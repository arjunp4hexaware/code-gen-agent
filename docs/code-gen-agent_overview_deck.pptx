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Opening. What CodeGen does, why ACFC would want it, what has been measured, and an explicitly labelled illustrative savings model. Fixture feeds are anonymised (Civic Vantage universe) or synthetic (CAQH STTM) — never present them as ACFC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'Two-layer trust rule': everything derivable from the contracts is written by Jinja2 templates (Layer 1). Only free-text validation rules the deterministic classifier cannot map go to Claude (Layer 2), and its output is a review artifact (candidates.json), never merged into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contexts are real project shapes: MIDS social-determinants feeds (3 flat files, recycle against Facets subscriber lookup, 7-day window) and CAQH TPL inbound (Header/Detail/Trailer, 15-day recycle). ACFC's engineer-hours per feed are not in the repo — the previous deck's 'engineer-weeks' is unmeasured.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Model: claude-opus-4-8, max 2 attempts, no sampling params. Grounding failures reject any citation that is not a verbatim substring of the rule text or contract excerpt. Segmented (Header/Detail/Trailer) feeds are supported in generation via a STTM dialect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Contract disagreements raise ContractMismatchError rather than being reconciled silently — the agent refuses to guess between the FRD and the STTM.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Segmented (H/D/T) workbooks are generated but not yet extracted — the CAQH STTM contract in fixtures is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that PASS_WITH_FLAGS is expected: notification rules have no recipients yet and candidates await approval. Live outputs vary in phrasing between runs; grounding is what is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Benefits are expectations; the measured facts are on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the client to replace each figure. Review time is deliberately generous — the engineer still owns the PR and the Code Review Agent reviews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Generation never opens a Databricks connection today; DATABRICKS_HOST/TOKEN are reserved for future deploy. The UI never runs the generated Spark tests (needs a JVM).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these out loud; they are the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to remember: templates write the code; the AI only reviews leftovers and must quote verbatim; engineers make every final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0A19A"/>
                </a:solidFill>
                <a:latin typeface="Calibri"/>
              </a:rPr>
              <a:t>HEXAWARE × ACFC · AI-IN-ENGINEERING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 Light"/>
              </a:rPr>
              <a:t>CodeGen — the Data Engineer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3D2DE"/>
                </a:solidFill>
                <a:latin typeface="Calibri Light"/>
              </a:rPr>
              <a:t>From approved FRD + STTM contracts to a production-shaped Databricks ingestion pipeline — PySpark, Delta DDL, tests, job and notebook — with the AI kept out of production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3D2DE"/>
                </a:solidFill>
                <a:latin typeface="Calibri"/>
              </a:rPr>
              <a:t>Prepared for AmeriHealth Caritas Family of Companies (ACFC)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5838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3D2DE"/>
                </a:solidFill>
                <a:latin typeface="Calibri"/>
              </a:rPr>
              <a:t>Hexaware · AI-in-Engineering program · Agent 3 of 5 ·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875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3D2DE"/>
                </a:solidFill>
                <a:latin typeface="Calibri"/>
              </a:rPr>
              <a:t>Status: live end-to-end runs on anonymised MIDS / CV fixtures; first real-workspace deployment pending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What it does — in one sentence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0E2233"/>
                </a:solidFill>
                <a:latin typeface="Calibri Light"/>
              </a:rPr>
              <a:t>It compiles two approved, machine-readable contracts — the FRD feed contract and the STTM mapping contract — into a complete bronze-to-silver ingestion pipeline for Databricks, and grades its own output with a gate before an engineer ever opens a pull request.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A4A5C"/>
                </a:solidFill>
                <a:latin typeface="Calibri"/>
              </a:rPr>
              <a:t>Input: &lt;feed&gt;.contract.json (from FRD→STTM) + STTM mapping contract (extracted deterministically from the client's STTM workbook).</a:t>
            </a:r>
          </a:p>
          <a:p>
            <a:pPr algn="l"/>
            <a:r>
              <a:rPr sz="1500" b="0" i="0">
                <a:solidFill>
                  <a:srgbClr val="3A4A5C"/>
                </a:solidFill>
                <a:latin typeface="Calibri"/>
              </a:rPr>
              <a:t>Output per feed: PySpark + Delta Lake modules, Unity Catalog DDL, a pytest suite, a Databricks Workflows job JSON, one runnable notebook, a generation report and a PASS / PASS WITH FLAGS / FAIL verdict.</a:t>
            </a:r>
          </a:p>
          <a:p>
            <a:pPr algn="l"/>
            <a:r>
              <a:rPr sz="1500" b="0" i="0">
                <a:solidFill>
                  <a:srgbClr val="3A4A5C"/>
                </a:solidFill>
                <a:latin typeface="Calibri"/>
              </a:rPr>
              <a:t>Templates write the code. Claude only reviews the leftovers — and never writes production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CodeGen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07C76"/>
                </a:solidFill>
                <a:latin typeface="Calibri"/>
              </a:rP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Why ACFC needs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95747" cy="4069080"/>
          </a:xfrm>
          <a:prstGeom prst="roundRect">
            <a:avLst>
              <a:gd name="adj" fmla="val 4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295747" cy="548640"/>
          </a:xfrm>
          <a:prstGeom prst="roundRect">
            <a:avLst>
              <a:gd name="adj" fmla="val 25000"/>
            </a:avLst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295747" cy="274320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35608"/>
            <a:ext cx="48385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Feed onboarding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838547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B7A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Every new data feed (MIDS, CAQH, …) needs its own ingestion pipeline: readers, drift checks, mappings, audit columns, rejects, MERGE writer, DQ, tests, job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B7A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The work is translation — BRD/FRD + STTM spreadsheet hand-typed into PySpark, Delta DDL and tests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B7A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Repetitive and error-prone; each engineer's pipeline looks a little different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B7A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Reviewers must reverse-engineer the spreadsheet to check the code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B7A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House rules (PHI masking, audit columns, recycle logic) depend on the individual remembering them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325880"/>
            <a:ext cx="5295747" cy="4069080"/>
          </a:xfrm>
          <a:prstGeom prst="roundRect">
            <a:avLst>
              <a:gd name="adj" fmla="val 4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325880"/>
            <a:ext cx="5295747" cy="548640"/>
          </a:xfrm>
          <a:prstGeom prst="roundRect">
            <a:avLst>
              <a:gd name="adj" fmla="val 25000"/>
            </a:avLst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600200"/>
            <a:ext cx="5295747" cy="27432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4467" y="1435608"/>
            <a:ext cx="48385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With the CodeGen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4467" y="2057400"/>
            <a:ext cx="4838547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Same contracts in, same bytes out — 34–39 files per feed generated in seconds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House style baked into 41 templates: stage-as-String, typed audit columns, drift → fail/quarantine, idempotent MERGE, PHI masked last-4 at every egress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Every emitted file carries a provenance banner with contract names + SHA-256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Reviewers get a report: rule table with grounding, files emitted, gate results, flags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Only genuinely unmapped rules go to Claude — as candidates for an engineer to approve, never as merged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532120"/>
            <a:ext cx="10911535" cy="640080"/>
          </a:xfrm>
          <a:prstGeom prst="roundRect">
            <a:avLst>
              <a:gd name="adj" fmla="val 20000"/>
            </a:avLst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5715000"/>
            <a:ext cx="50800" cy="27432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32120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Pipeline scaffolding in seconds instead of engineer-days per feed, in one consistent house style — with the engineer still owning every PR.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CodeGen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07C76"/>
                </a:solidFill>
                <a:latin typeface="Calibri"/>
              </a:rPr>
              <a:t>TWO-LAYER TRUST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How it works — templates write the code, the AI reviews the leftovers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620469" cy="2011680"/>
          </a:xfrm>
          <a:prstGeom prst="roundRect">
            <a:avLst>
              <a:gd name="adj" fmla="val 10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620469" cy="63500"/>
          </a:xfrm>
          <a:prstGeom prst="rect">
            <a:avLst/>
          </a:prstGeom>
          <a:solidFill>
            <a:srgbClr val="007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6204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7C76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38528"/>
            <a:ext cx="14741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E2233"/>
                </a:solidFill>
                <a:latin typeface="Calibri"/>
              </a:rPr>
              <a:t>EXTRACT STTM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43758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A4A5C"/>
                </a:solidFill>
                <a:latin typeface="Calibri"/>
              </a:rPr>
              <a:t>Client STTM workbook + FRD contract → mapping contract JSON. Deterministic, no LLM, no network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97125" y="2459736"/>
            <a:ext cx="164592" cy="201168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98293" y="1554480"/>
            <a:ext cx="1620469" cy="2011680"/>
          </a:xfrm>
          <a:prstGeom prst="roundRect">
            <a:avLst>
              <a:gd name="adj" fmla="val 10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98293" y="1554480"/>
            <a:ext cx="1620469" cy="63500"/>
          </a:xfrm>
          <a:prstGeom prst="rect">
            <a:avLst/>
          </a:prstGeom>
          <a:solidFill>
            <a:srgbClr val="007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8293" y="1691640"/>
            <a:ext cx="16204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7C76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1445" y="1938528"/>
            <a:ext cx="14741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E2233"/>
                </a:solidFill>
                <a:latin typeface="Calibri"/>
              </a:rPr>
              <a:t>RESOLVE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9733" y="2377440"/>
            <a:ext cx="143758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A4A5C"/>
                </a:solidFill>
                <a:latin typeface="Calibri"/>
              </a:rPr>
              <a:t>FRD ⋈ STTM per feed; any disagreement (delimiter, targets, recycle window) raises — never reconciled silently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55338" y="2459736"/>
            <a:ext cx="164592" cy="201168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56506" y="1554480"/>
            <a:ext cx="1620469" cy="2011680"/>
          </a:xfrm>
          <a:prstGeom prst="roundRect">
            <a:avLst>
              <a:gd name="adj" fmla="val 10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56506" y="1554480"/>
            <a:ext cx="1620469" cy="63500"/>
          </a:xfrm>
          <a:prstGeom prst="rect">
            <a:avLst/>
          </a:prstGeom>
          <a:solidFill>
            <a:srgbClr val="007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6506" y="1691640"/>
            <a:ext cx="16204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7C76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9658" y="1938528"/>
            <a:ext cx="14741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E2233"/>
                </a:solidFill>
                <a:latin typeface="Calibri"/>
              </a:rPr>
              <a:t>COMPILE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7946" y="2377440"/>
            <a:ext cx="143758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A4A5C"/>
                </a:solidFill>
                <a:latin typeface="Calibri"/>
              </a:rPr>
              <a:t>Regex classifier: mappable / orchestration / notification / out-of-scope / flagged / unmapped — with grounding substring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13551" y="2459736"/>
            <a:ext cx="164592" cy="201168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4719" y="1554480"/>
            <a:ext cx="1620469" cy="2011680"/>
          </a:xfrm>
          <a:prstGeom prst="roundRect">
            <a:avLst>
              <a:gd name="adj" fmla="val 10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4719" y="1554480"/>
            <a:ext cx="1620469" cy="63500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4719" y="1691640"/>
            <a:ext cx="16204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E6ED1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7871" y="1938528"/>
            <a:ext cx="14741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E2233"/>
                </a:solidFill>
                <a:latin typeface="Calibri"/>
              </a:rPr>
              <a:t>LAYER-2 REASON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6159" y="2377440"/>
            <a:ext cx="143758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A4A5C"/>
                </a:solidFill>
                <a:latin typeface="Calibri"/>
              </a:rPr>
              <a:t>Only unmapped rules → Claude, with a context pack; citations must be verbatim; output = candidates.json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871764" y="2459736"/>
            <a:ext cx="164592" cy="201168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72932" y="1554480"/>
            <a:ext cx="1620469" cy="2011680"/>
          </a:xfrm>
          <a:prstGeom prst="roundRect">
            <a:avLst>
              <a:gd name="adj" fmla="val 10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72932" y="1554480"/>
            <a:ext cx="1620469" cy="63500"/>
          </a:xfrm>
          <a:prstGeom prst="rect">
            <a:avLst/>
          </a:prstGeom>
          <a:solidFill>
            <a:srgbClr val="007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72932" y="1691640"/>
            <a:ext cx="16204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7C76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6084" y="1938528"/>
            <a:ext cx="14741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E2233"/>
                </a:solidFill>
                <a:latin typeface="Calibri"/>
              </a:rPr>
              <a:t>EMIT +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4372" y="2377440"/>
            <a:ext cx="143758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A4A5C"/>
                </a:solidFill>
                <a:latin typeface="Calibri"/>
              </a:rPr>
              <a:t>41 Jinja2 templates → modules, DDL, tests, job, notebook; ruff + debug + secrets + test-per-module + generated tests → verdict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729977" y="2459736"/>
            <a:ext cx="164592" cy="201168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31145" y="1554480"/>
            <a:ext cx="1620469" cy="2011680"/>
          </a:xfrm>
          <a:prstGeom prst="roundRect">
            <a:avLst>
              <a:gd name="adj" fmla="val 10000"/>
            </a:avLst>
          </a:prstGeom>
          <a:solidFill>
            <a:srgbClr val="FB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31145" y="1554480"/>
            <a:ext cx="1620469" cy="63500"/>
          </a:xfrm>
          <a:prstGeom prst="rect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1145" y="1691640"/>
            <a:ext cx="16204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98A1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4297" y="1938528"/>
            <a:ext cx="14741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E2233"/>
                </a:solidFill>
                <a:latin typeface="Calibri"/>
              </a:rPr>
              <a:t>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22585" y="2377440"/>
            <a:ext cx="143758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A4A5C"/>
                </a:solidFill>
                <a:latin typeface="Calibri"/>
              </a:rPr>
              <a:t>Engineer approves / rejects candidates, owns the PR → Code Review Agent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3776472"/>
            <a:ext cx="201168" cy="201168"/>
          </a:xfrm>
          <a:prstGeom prst="roundRect">
            <a:avLst>
              <a:gd name="adj" fmla="val 30000"/>
            </a:avLst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373075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  <a:latin typeface="Calibri"/>
              </a:rPr>
              <a:t>LLM step (Claude)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0" y="3776472"/>
            <a:ext cx="201168" cy="201168"/>
          </a:xfrm>
          <a:prstGeom prst="roundRect">
            <a:avLst>
              <a:gd name="adj" fmla="val 30000"/>
            </a:avLst>
          </a:prstGeom>
          <a:solidFill>
            <a:srgbClr val="007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373075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  <a:latin typeface="Calibri"/>
              </a:rPr>
              <a:t>Deterministic code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94960" y="3776472"/>
            <a:ext cx="201168" cy="201168"/>
          </a:xfrm>
          <a:prstGeom prst="roundRect">
            <a:avLst>
              <a:gd name="adj" fmla="val 30000"/>
            </a:avLst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0" y="373075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  <a:latin typeface="Calibri"/>
              </a:rPr>
              <a:t>Human decision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20624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PASS = every rule compiled deterministically, checks green, tests pass · PASS WITH FLAGS = green but a human is needed (candidates pending, flagged/notification rules, tests skipped) · FAIL = any gate check failed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Candidates alone can never cause FAIL; a live provider outage degrades to flags, never a crashed generation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Never hand-edit generated code — fix contracts or templates and regenerate; the diff shows exactly which contract version produced which code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532120"/>
            <a:ext cx="10911535" cy="640080"/>
          </a:xfrm>
          <a:prstGeom prst="roundRect">
            <a:avLst>
              <a:gd name="adj" fmla="val 20000"/>
            </a:avLst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8680" y="5715000"/>
            <a:ext cx="50800" cy="27432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532120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AI never writes production code. If a template cannot derive it from the contract, a person decides — and the gate says so.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CodeGen 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07C76"/>
                </a:solidFill>
                <a:latin typeface="Calibri"/>
              </a:rPr>
              <a:t>GOVERNANCE BY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Built for a regulated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0800" cy="2295144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463040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C76"/>
                </a:solidFill>
                <a:latin typeface="Calibri"/>
              </a:rPr>
              <a:t>AI fenced off from production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65960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0A19A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Layer 1 templates own every module, DDL, test and job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0A19A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Layer 2 output is a review artifact, never merged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0A19A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Approval is a recorded decision, not a merge (v2 by design)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2602" y="1325880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2602" y="1325880"/>
            <a:ext cx="50800" cy="2295144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3770" y="1463040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6ED1"/>
                </a:solidFill>
                <a:latin typeface="Calibri"/>
              </a:rPr>
              <a:t>Byte-stable &amp; provenanced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3770" y="1965960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2E6ED1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No timestamps or randomness in output — same contracts, same bytes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E6ED1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Provenance banner: contract names + SHA-256 in every file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E6ED1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Report repeats it, with the rule table and grounding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5124" y="1325880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FB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5124" y="1325880"/>
            <a:ext cx="50800" cy="2295144"/>
          </a:xfrm>
          <a:prstGeom prst="rect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6292" y="1463040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8A1F"/>
                </a:solidFill>
                <a:latin typeface="Calibri"/>
              </a:rPr>
              <a:t>Gate mirrors Code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292" y="1965960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8A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ruff, debug-pattern scan, secrets scan, test-file-per-module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D98A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Optional: run the generated Spark tests locally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D98A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Verdict computed by code, shared PASS / PASS WITH FLAGS / FAIL vocabulary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77056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77056"/>
            <a:ext cx="50800" cy="2295144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014216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2233"/>
                </a:solidFill>
                <a:latin typeface="Calibri"/>
              </a:rPr>
              <a:t>PHI-aware by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517136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PHI masked to last-4 at every log, report and error egress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Audit columns LOB, SRC_FILE_NAME, REC_CREATION_TIME, REC_UPDATED_TIME on every table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Not-null rejects → errors table; drift → fail file / quarantine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2602" y="3877056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2602" y="3877056"/>
            <a:ext cx="50800" cy="2295144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4014216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2233"/>
                </a:solidFill>
                <a:latin typeface="Calibri"/>
              </a:rPr>
              <a:t>Costs known before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3770" y="4517136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UI shows calls &amp; cost before a live run (~3 calls, ~$0.10, ~20 s)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Mock provider by default; replay sets for zero-cost demos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Live outage → flags, not failure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5124" y="3877056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5124" y="3877056"/>
            <a:ext cx="50800" cy="2295144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6292" y="4014216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2233"/>
                </a:solidFill>
                <a:latin typeface="Calibri"/>
              </a:rPr>
              <a:t>Tested, no client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292" y="4517136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80 offline tests incl. golden-pair byte comparison for the extractor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Anonymised MIDS / CV fixtures; CAQH STTM explicitly synthetic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Real CAQH workbook never enters the repo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CodeGen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07C76"/>
                </a:solidFill>
                <a:latin typeface="Calibri"/>
              </a:rPr>
              <a:t>THIRD OF FIVE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Where it fits in the AI-in-Engineering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3506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3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35069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E2233"/>
                </a:solidFill>
                <a:latin typeface="Calibri"/>
              </a:rPr>
              <a:t>BRD → FRD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16781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  <a:latin typeface="Calibri"/>
              </a:rPr>
              <a:t>Business requirements →</a:t>
            </a:r>
          </a:p>
          <a:p>
            <a:pPr algn="ctr"/>
            <a:r>
              <a:rPr sz="1100" b="0" i="0">
                <a:solidFill>
                  <a:srgbClr val="3A4A5C"/>
                </a:solidFill>
                <a:latin typeface="Calibri"/>
              </a:rPr>
              <a:t>functional requirements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925" y="2185416"/>
            <a:ext cx="356616" cy="201168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93693" y="1600200"/>
            <a:ext cx="23506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3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693" y="1737360"/>
            <a:ext cx="235069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E2233"/>
                </a:solidFill>
                <a:latin typeface="Calibri"/>
              </a:rPr>
              <a:t>FRD → STTM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5133" y="2148840"/>
            <a:ext cx="216781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  <a:latin typeface="Calibri"/>
              </a:rPr>
              <a:t>Functional requirements →</a:t>
            </a:r>
          </a:p>
          <a:p>
            <a:pPr algn="ctr"/>
            <a:r>
              <a:rPr sz="1100" b="0" i="0">
                <a:solidFill>
                  <a:srgbClr val="3A4A5C"/>
                </a:solidFill>
                <a:latin typeface="Calibri"/>
              </a:rPr>
              <a:t>source-to-target mapping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7539" y="2185416"/>
            <a:ext cx="356616" cy="201168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47307" y="1600200"/>
            <a:ext cx="2350693" cy="1371600"/>
          </a:xfrm>
          <a:prstGeom prst="roundRect">
            <a:avLst>
              <a:gd name="adj" fmla="val 12000"/>
            </a:avLst>
          </a:prstGeom>
          <a:solidFill>
            <a:srgbClr val="00A19A"/>
          </a:solidFill>
          <a:ln w="19050">
            <a:solidFill>
              <a:srgbClr val="00A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7307" y="1737360"/>
            <a:ext cx="235069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CodeGen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747" y="2148840"/>
            <a:ext cx="216781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Mapping contract →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pipeline code + tests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71153" y="2185416"/>
            <a:ext cx="356616" cy="201168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00921" y="1600200"/>
            <a:ext cx="23506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3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0921" y="1737360"/>
            <a:ext cx="235069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E2233"/>
                </a:solidFill>
                <a:latin typeface="Calibri"/>
              </a:rPr>
              <a:t>Code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2361" y="2148840"/>
            <a:ext cx="216781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  <a:latin typeface="Calibri"/>
              </a:rPr>
              <a:t>PR / diff →</a:t>
            </a:r>
          </a:p>
          <a:p>
            <a:pPr algn="ctr"/>
            <a:r>
              <a:rPr sz="1100" b="0" i="0">
                <a:solidFill>
                  <a:srgbClr val="3A4A5C"/>
                </a:solidFill>
                <a:latin typeface="Calibri"/>
              </a:rPr>
              <a:t>review findings + 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18407" y="3337560"/>
            <a:ext cx="475488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C3D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8407" y="34107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E2233"/>
                </a:solidFill>
                <a:latin typeface="Calibri"/>
              </a:rPr>
              <a:t>SQL Optimization (standalone)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8407" y="377647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  <a:latin typeface="Calibri"/>
              </a:rPr>
              <a:t>Reads warehouse query telemetry, returns a ranked optimization backlog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7A8C"/>
                </a:solidFill>
                <a:latin typeface="Calibri"/>
              </a:rPr>
              <a:t>Human approval gate between every stage · shared hub + append-only ledger (agent-pipeline-orchestrator)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Consumes the FRD→STTM agent's &lt;feed&gt;.contract.json plus the STTM mapping contract; the built-in extract-sttm command reads the client's workbook directly (flat dialect)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Its generated modules and report are what the Code Review Agent reviews once the engineer opens the PR; the gate pre-flights the same checks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Hand-off today: copy out/&lt;feed&gt;/ into the target pipeline repo with the report in the PR; ledger integration via the orchestrator's execute mode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CodeGen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07C76"/>
                </a:solidFill>
                <a:latin typeface="Calibri"/>
              </a:rPr>
              <a:t>LIVE END-TO-END RUNS, 2026-08-07 (ANONYMISED CV / MIDS FIXTURES)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What we have measured so far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556433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012440"/>
            <a:ext cx="2556433" cy="508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2190673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E2233"/>
                </a:solidFill>
                <a:latin typeface="Calibri Light"/>
              </a:rPr>
              <a:t>34–39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19067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C76"/>
                </a:solidFill>
                <a:latin typeface="Calibri"/>
              </a:rPr>
              <a:t>files generated per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21906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Calibri"/>
              </a:rPr>
              <a:t>PySpark modules, DDL, tests, job JSON, notebook, README,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5113" y="1325880"/>
            <a:ext cx="2556433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5113" y="3012440"/>
            <a:ext cx="2556433" cy="508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7993" y="1463040"/>
            <a:ext cx="2190673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0E2233"/>
                </a:solidFill>
                <a:latin typeface="Calibri Light"/>
              </a:rPr>
              <a:t>~15 s · ≈$0.09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7993" y="2148840"/>
            <a:ext cx="219067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C76"/>
                </a:solidFill>
                <a:latin typeface="Calibri"/>
              </a:rPr>
              <a:t>live 3-feed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993" y="2441448"/>
            <a:ext cx="21906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Calibri"/>
              </a:rPr>
              <a:t>3 Claude calls, 0 retries, ~15k in / ~0.7k out tokens (claude-opus-4-8)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325880"/>
            <a:ext cx="2556433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147" y="3012440"/>
            <a:ext cx="2556433" cy="508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3027" y="1463040"/>
            <a:ext cx="2190673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E2233"/>
                </a:solidFill>
                <a:latin typeface="Calibri Light"/>
              </a:rPr>
              <a:t>3 /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27" y="2148840"/>
            <a:ext cx="219067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C76"/>
                </a:solidFill>
                <a:latin typeface="Calibri"/>
              </a:rPr>
              <a:t>feeds PASS WITH FLAGS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441448"/>
            <a:ext cx="21906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Calibri"/>
              </a:rPr>
              <a:t>All candidates grounded; every citation a verbatim substring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5181" y="1325880"/>
            <a:ext cx="2556433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5181" y="3012440"/>
            <a:ext cx="2556433" cy="508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8061" y="1463040"/>
            <a:ext cx="2190673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E2233"/>
                </a:solidFill>
                <a:latin typeface="Calibri Light"/>
              </a:rPr>
              <a:t>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8061" y="2148840"/>
            <a:ext cx="219067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C76"/>
                </a:solidFill>
                <a:latin typeface="Calibri"/>
              </a:rPr>
              <a:t>automated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8061" y="2441448"/>
            <a:ext cx="21906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Calibri"/>
              </a:rPr>
              <a:t>Offline, no Spark; extractor golden pair byte-compared; 41 templates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38328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Contract scale handled: feeds with 86, 267 and 46 STTM fields; CAQH synthetic H/D/T feed with 10 validation rules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MIDS feeds need zero LLM calls (every rule compiled deterministically); the whole fixture set needs at most 5 calls — worst case with retries 10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Lifetime live LLM spend across both billed runs: ≈ $0.19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Not yet measured: engineer-hours per feed baseline, defect rates, first run on a real Databricks workspace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A8C"/>
                </a:solidFill>
                <a:latin typeface="Calibri"/>
              </a:rPr>
              <a:t>Source: docs/LIVE_RUN_RECORD.md, docs/LIVE_PATH_RECON.md, fixtures/replay/live_e2e_20260807/*/report.md, CLAUDE.md. Costs are Anthropic list-price estimates from recorded token usage.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32120"/>
            <a:ext cx="10911535" cy="640080"/>
          </a:xfrm>
          <a:prstGeom prst="roundRect">
            <a:avLst>
              <a:gd name="adj" fmla="val 20000"/>
            </a:avLst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5715000"/>
            <a:ext cx="50800" cy="27432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532120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Generation is fast, cheap and grounded; PASS WITH FLAGS is the correct verdict for demo feeds — it means 'a human is needed', not 'something broke'.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CodeGen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07C76"/>
                </a:solidFill>
                <a:latin typeface="Calibri"/>
              </a:rPr>
              <a:t>WHY IT IS WORTH DOING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Expected benefits for ACFC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0800" cy="2295144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463040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C76"/>
                </a:solidFill>
                <a:latin typeface="Calibri"/>
              </a:rPr>
              <a:t>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65960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  <a:latin typeface="Calibri"/>
              </a:rPr>
              <a:t>Pipeline scaffolding in seconds instead of engineer-days per feed; new feeds stop waiting in the queue.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2602" y="1325880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2602" y="1325880"/>
            <a:ext cx="50800" cy="2295144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3770" y="1463040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C76"/>
                </a:solidFill>
                <a:latin typeface="Calibri"/>
              </a:rPr>
              <a:t>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3770" y="1965960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  <a:latin typeface="Calibri"/>
              </a:rPr>
              <a:t>One house style across every feed and engineer — byte-stable output, provenance in every file.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5124" y="1325880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5124" y="1325880"/>
            <a:ext cx="50800" cy="2295144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6292" y="1463040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6ED1"/>
                </a:solidFill>
                <a:latin typeface="Calibri"/>
              </a:rPr>
              <a:t>Compliance by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292" y="1965960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  <a:latin typeface="Calibri"/>
              </a:rPr>
              <a:t>PHI masking, audit columns, reject handling and recycle logic are template guarantees, not reminders.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77056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77056"/>
            <a:ext cx="50800" cy="2295144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014216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6ED1"/>
                </a:solidFill>
                <a:latin typeface="Calibri"/>
              </a:rPr>
              <a:t>Safer, faster reviews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517136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  <a:latin typeface="Calibri"/>
              </a:rPr>
              <a:t>Reviewers read a report and a diff against a known template — no reverse-engineering the spreadsheet.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2602" y="3877056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FB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2602" y="3877056"/>
            <a:ext cx="50800" cy="2295144"/>
          </a:xfrm>
          <a:prstGeom prst="rect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4014216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8A1F"/>
                </a:solidFill>
                <a:latin typeface="Calibri"/>
              </a:rPr>
              <a:t>Fits the existing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3770" y="4517136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  <a:latin typeface="Calibri"/>
              </a:rPr>
              <a:t>Plain PySpark + Delta + Workflows + Unity Catalog; structured for a mechanical DLT port later.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5124" y="3877056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FB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5124" y="3877056"/>
            <a:ext cx="50800" cy="2295144"/>
          </a:xfrm>
          <a:prstGeom prst="rect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6292" y="4014216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8A1F"/>
                </a:solidFill>
                <a:latin typeface="Calibri"/>
              </a:rPr>
              <a:t>Tiny, fenced AI spend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292" y="4517136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  <a:latin typeface="Calibri"/>
              </a:rPr>
              <a:t>≈ $0.10 per multi-feed run; Anthropic is the sole model vendor; live cost is shown before it is spent.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CodeGen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07C76"/>
                </a:solidFill>
                <a:latin typeface="Calibri"/>
              </a:rPr>
              <a:t>ASSUMPTIONS ARE PLACEHOLDERS — REPLACE WITH ACFC'S ENGINEER EFFORT AND FEED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Time &amp; cost savings — illustrative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911534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364614"/>
                <a:gridCol w="1925565"/>
                <a:gridCol w="2824162"/>
                <a:gridCol w="1797193"/>
              </a:tblGrid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 feed (flat file, ~100–250 columns)</a:t>
                      </a:r>
                    </a:p>
                  </a:txBody>
                  <a:tcPr marL="73152" marR="73152" marT="36576" marB="36576" anchor="ctr">
                    <a:solidFill>
                      <a:srgbClr val="0E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Manual today (assumed)</a:t>
                      </a:r>
                    </a:p>
                  </a:txBody>
                  <a:tcPr marL="73152" marR="73152" marT="36576" marB="36576" anchor="ctr">
                    <a:solidFill>
                      <a:srgbClr val="0E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With agent (assumed)</a:t>
                      </a:r>
                    </a:p>
                  </a:txBody>
                  <a:tcPr marL="73152" marR="73152" marT="36576" marB="36576" anchor="ctr">
                    <a:solidFill>
                      <a:srgbClr val="0E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Saving</a:t>
                      </a:r>
                    </a:p>
                  </a:txBody>
                  <a:tcPr marL="73152" marR="73152" marT="36576" marB="36576" anchor="ctr">
                    <a:solidFill>
                      <a:srgbClr val="0E2233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433"/>
                          </a:solidFill>
                          <a:latin typeface="Calibri"/>
                        </a:rPr>
                        <a:t>Write reader, drift, mapping, audit, rejects, writer, DQ, run-report modules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24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0 h (generated)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24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433"/>
                          </a:solidFill>
                          <a:latin typeface="Calibri"/>
                        </a:rPr>
                        <a:t>Author stage / standard / errors / recycle DDL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3 h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0 h (generated)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3 h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433"/>
                          </a:solidFill>
                          <a:latin typeface="Calibri"/>
                        </a:rPr>
                        <a:t>Write unit tests per module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8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0 h (generated)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8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433"/>
                          </a:solidFill>
                          <a:latin typeface="Calibri"/>
                        </a:rPr>
                        <a:t>Job definition + notebook entry point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3 h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0.5 h (fill cluster / schedule)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2.5 h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433"/>
                          </a:solidFill>
                          <a:latin typeface="Calibri"/>
                        </a:rPr>
                        <a:t>Review Layer-2 candidates, adjust, open PR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4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433"/>
                          </a:solidFill>
                          <a:latin typeface="Calibri"/>
                        </a:rPr>
                        <a:t>LLM cost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≈ $0.03 per feed (measured)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7C76"/>
                          </a:solidFill>
                          <a:latin typeface="Calibri"/>
                        </a:rPr>
                        <a:t>Total per feed</a:t>
                      </a:r>
                    </a:p>
                  </a:txBody>
                  <a:tcPr marL="73152" marR="73152" marT="36576" marB="36576" anchor="ctr">
                    <a:solidFill>
                      <a:srgbClr val="E3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7C76"/>
                          </a:solidFill>
                          <a:latin typeface="Calibri"/>
                        </a:rPr>
                        <a:t>38 h</a:t>
                      </a:r>
                    </a:p>
                  </a:txBody>
                  <a:tcPr marL="73152" marR="73152" marT="36576" marB="36576" anchor="ctr">
                    <a:solidFill>
                      <a:srgbClr val="E3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7C76"/>
                          </a:solidFill>
                          <a:latin typeface="Calibri"/>
                        </a:rPr>
                        <a:t>4.5 h + $0.03</a:t>
                      </a:r>
                    </a:p>
                  </a:txBody>
                  <a:tcPr marL="73152" marR="73152" marT="36576" marB="36576" anchor="ctr">
                    <a:solidFill>
                      <a:srgbClr val="E3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7C76"/>
                          </a:solidFill>
                          <a:latin typeface="Calibri"/>
                        </a:rPr>
                        <a:t>≈ 33.5 h (~88%)</a:t>
                      </a:r>
                    </a:p>
                  </a:txBody>
                  <a:tcPr marL="73152" marR="73152" marT="36576" marB="36576" anchor="ctr">
                    <a:solidFill>
                      <a:srgbClr val="E3F5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92040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B7A8C"/>
                </a:solidFill>
                <a:latin typeface="Calibri"/>
              </a:rPr>
              <a:t>Source / assumptions: Effort figures are illustrative assumptions, not measurements (the repo states no engineer-hours baseline). Only generation time, LLM cost and file counts are measured (docs/LIVE_RUN_RECORD.md). Example scale-up: 2 new feeds/month × 33.5 h ≈ 800 h/yr; at an illustrative $100/h ≈ $80k/yr vs &lt; $1/yr of LLM spend.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32120"/>
            <a:ext cx="10911535" cy="640080"/>
          </a:xfrm>
          <a:prstGeom prst="roundRect">
            <a:avLst>
              <a:gd name="adj" fmla="val 20000"/>
            </a:avLst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5715000"/>
            <a:ext cx="50800" cy="27432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32120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engineer's time moves from typing boilerplate to reviewing a report and a diff. One real feed in a pilot would replace every assumption 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CodeGen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Deployment &amp;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95747" cy="4846320"/>
          </a:xfrm>
          <a:prstGeom prst="roundRect">
            <a:avLst>
              <a:gd name="adj" fmla="val 4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95747" cy="548640"/>
          </a:xfrm>
          <a:prstGeom prst="roundRect">
            <a:avLst>
              <a:gd name="adj" fmla="val 25000"/>
            </a:avLst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295747" cy="27432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35608"/>
            <a:ext cx="48385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What exists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83854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CLI: codegen generate / generate-all / extract-sttm — dry-run, live, capture, replay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Demo UI (FastAPI + React): dashboard, per-feed rules / Layer-2 review / notebook / generated-code / report tabs; Mock, Replay and confirm-gated Live modes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Databricks Apps manifest (app.yaml) with API key from an app secret; single-port launcher run_demo.sh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Generated job JSON targets Databricks Workflows; DDL targets Unity Catalog; notebook runs as-is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Config-driven: model, cluster shape, notification recipients, segment discriminator in config/config.yaml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325880"/>
            <a:ext cx="5295747" cy="4846320"/>
          </a:xfrm>
          <a:prstGeom prst="roundRect">
            <a:avLst>
              <a:gd name="adj" fmla="val 4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5867" y="1325880"/>
            <a:ext cx="5295747" cy="548640"/>
          </a:xfrm>
          <a:prstGeom prst="roundRect">
            <a:avLst>
              <a:gd name="adj" fmla="val 25000"/>
            </a:avLst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600200"/>
            <a:ext cx="5295747" cy="274320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4467" y="1435608"/>
            <a:ext cx="48385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Pending ACFC decisions /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4467" y="2057400"/>
            <a:ext cx="483854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6B7A8C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First run on a real Databricks workspace / Apps deployment (never deployed yet)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B7A8C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Client pipeline stack confirmation (plain PySpark + Workflows today; DLT port deferred)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B7A8C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Real CAQH STTM workbook + source dictionary → segmented (H/D/T) extraction; confirm the segment discriminator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B7A8C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Job cluster / schedule values (config guess today); notification recipients (empty → flags)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B7A8C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Approve → merge automation (v2), once ACFC is comfortable with the review 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CodeGen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Known gaps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95747" cy="4846320"/>
          </a:xfrm>
          <a:prstGeom prst="roundRect">
            <a:avLst>
              <a:gd name="adj" fmla="val 4000"/>
            </a:avLst>
          </a:prstGeom>
          <a:solidFill>
            <a:srgbClr val="FB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95747" cy="548640"/>
          </a:xfrm>
          <a:prstGeom prst="roundRect">
            <a:avLst>
              <a:gd name="adj" fmla="val 25000"/>
            </a:avLst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295747" cy="274320"/>
          </a:xfrm>
          <a:prstGeom prst="rect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35608"/>
            <a:ext cx="48385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Honest limitations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83854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D98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No run on a real Databricks workspace yet; pipeline runs in-process on the demo machine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98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CAQH segmented workbook not extractable; its STTM contract is synthetic; discriminator is an assumption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98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Approve → merge is manual by design; decisions do not gate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98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Rule classifier is regex over observed phrasings — new phrasings widen Layer-2 usage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98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Live Layer-2 output varies in wording between runs (grounding is stable)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325880"/>
            <a:ext cx="5295747" cy="4846320"/>
          </a:xfrm>
          <a:prstGeom prst="roundRect">
            <a:avLst>
              <a:gd name="adj" fmla="val 4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5867" y="1325880"/>
            <a:ext cx="5295747" cy="548640"/>
          </a:xfrm>
          <a:prstGeom prst="roundRect">
            <a:avLst>
              <a:gd name="adj" fmla="val 25000"/>
            </a:avLst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600200"/>
            <a:ext cx="5295747" cy="27432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4467" y="1435608"/>
            <a:ext cx="48385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Proposed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4467" y="2057400"/>
            <a:ext cx="483854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Obtain the real CAQH STTM → build segmented-mode extraction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Deploy to the client workspace; run generated tests on a real cluster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Confirm stack (Workflows vs DLT) and cluster/schedule values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Approval-merge v2 after pilot feedback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Close the loop with the Code Review Agent on generated PRs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CodeGen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What we need from ACFC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0A19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C3D2DE"/>
                </a:solidFill>
                <a:latin typeface="Calibri"/>
              </a:rPr>
              <a:t>One real feed (FRD + STTM workbook, anonymised) to generate end-to-end and review with your engineers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A19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C3D2DE"/>
                </a:solidFill>
                <a:latin typeface="Calibri"/>
              </a:rPr>
              <a:t>The real CAQH STTM workbook and source dictionary for segmented-mode extraction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A19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C3D2DE"/>
                </a:solidFill>
                <a:latin typeface="Calibri"/>
              </a:rPr>
              <a:t>A workspace to deploy into, plus cluster and scheduling conventions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A19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C3D2DE"/>
                </a:solidFill>
                <a:latin typeface="Calibri"/>
              </a:rPr>
              <a:t>Baseline numbers: feeds onboarded per quarter, engineer hours per feed — to replace the illustrative savings model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A19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C3D2DE"/>
                </a:solidFill>
                <a:latin typeface="Calibri"/>
              </a:rPr>
              <a:t>Confirmation of the target pipeline stack (Workflows today, DLT later?)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3D2DE"/>
                </a:solidFill>
                <a:latin typeface="Calibri"/>
              </a:rPr>
              <a:t>Hexaware × ACFC · AI-in-Engineering  ·  CodeGen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3D2D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