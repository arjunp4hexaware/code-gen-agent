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CodeGen — the Data Engineer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F0F9"/>
                </a:solidFill>
                <a:latin typeface="Calibri"/>
              </a:rPr>
              <a:t>From approved contracts to production-shaped Databricks pipelines — with a live run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AmeriHealth Caritas · AI-in-Engineering program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E8F0F9"/>
                </a:solidFill>
                <a:latin typeface="Calibri"/>
              </a:rPr>
              <a:t>Presented by Soham &amp; Arjun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E59"/>
                </a:solidFill>
                <a:latin typeface="Calibri"/>
              </a:rPr>
              <a:t>The problem we're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600" b="1" i="0">
                <a:solidFill>
                  <a:srgbClr val="0F5CA8"/>
                </a:solidFill>
                <a:latin typeface="Calibri"/>
              </a:rPr>
              <a:t>Every new data feed costs an engineer weeks of careful, repetitive translation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7B"/>
                </a:solidFill>
                <a:latin typeface="Calibri"/>
              </a:rPr>
              <a:t>AmeriHealth Caritas · AI-in-Engineering · CodeGen (Data Engineer Agent) demo —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Feeds keep arriving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eligibility, provider, and risk files (MIDS, CAQH, CV …) each need their own ingestion pipeline in Databricks.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The work is translation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business requirements (BRD → FRD) and mapping spreadsheets (STTM) get hand-translated into PySpark code, Delta Lake tables, tests, and jobs.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It's repetitive and error-prone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the same patterns rebuilt by hand, slightly differently, by every engineer, every time.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Reviews are slow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reviewers must reverse-engineer what the spreadsheet said before they can judge the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E59"/>
                </a:solidFill>
                <a:latin typeface="Calibri"/>
              </a:rPr>
              <a:t>Where CodeGen fits — a five-agent assembly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600" b="1" i="0">
                <a:solidFill>
                  <a:srgbClr val="0F5CA8"/>
                </a:solidFill>
                <a:latin typeface="Calibri"/>
              </a:rPr>
              <a:t>CodeGen is agent #3: it turns approved, machine-readable contracts into pipeline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7B"/>
                </a:solidFill>
                <a:latin typeface="Calibri"/>
              </a:rPr>
              <a:t>AmeriHealth Caritas · AI-in-Engineering · CodeGen (Data Engineer Agent) demo — 3</a:t>
            </a:r>
          </a:p>
        </p:txBody>
      </p:sp>
      <p:sp>
        <p:nvSpPr>
          <p:cNvPr id="6" name="Chevron 5"/>
          <p:cNvSpPr/>
          <p:nvPr/>
        </p:nvSpPr>
        <p:spPr>
          <a:xfrm>
            <a:off x="685800" y="1965960"/>
            <a:ext cx="2514600" cy="777240"/>
          </a:xfrm>
          <a:prstGeom prst="chevron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0B2E59"/>
                </a:solidFill>
                <a:latin typeface="Calibri"/>
              </a:rPr>
              <a:t>BRD → FRD</a:t>
            </a:r>
          </a:p>
        </p:txBody>
      </p:sp>
      <p:sp>
        <p:nvSpPr>
          <p:cNvPr id="7" name="Chevron 6"/>
          <p:cNvSpPr/>
          <p:nvPr/>
        </p:nvSpPr>
        <p:spPr>
          <a:xfrm>
            <a:off x="3456432" y="1965960"/>
            <a:ext cx="2514600" cy="777240"/>
          </a:xfrm>
          <a:prstGeom prst="chevron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0B2E59"/>
                </a:solidFill>
                <a:latin typeface="Calibri"/>
              </a:rPr>
              <a:t>FRD → STTM</a:t>
            </a:r>
          </a:p>
        </p:txBody>
      </p:sp>
      <p:sp>
        <p:nvSpPr>
          <p:cNvPr id="8" name="Chevron 7"/>
          <p:cNvSpPr/>
          <p:nvPr/>
        </p:nvSpPr>
        <p:spPr>
          <a:xfrm>
            <a:off x="6227064" y="1965960"/>
            <a:ext cx="2514600" cy="777240"/>
          </a:xfrm>
          <a:prstGeom prst="chevron">
            <a:avLst/>
          </a:prstGeom>
          <a:solidFill>
            <a:srgbClr val="0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CodeGen (today)</a:t>
            </a:r>
          </a:p>
        </p:txBody>
      </p:sp>
      <p:sp>
        <p:nvSpPr>
          <p:cNvPr id="9" name="Chevron 8"/>
          <p:cNvSpPr/>
          <p:nvPr/>
        </p:nvSpPr>
        <p:spPr>
          <a:xfrm>
            <a:off x="8997696" y="1965960"/>
            <a:ext cx="2514600" cy="777240"/>
          </a:xfrm>
          <a:prstGeom prst="chevron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0B2E59"/>
                </a:solidFill>
                <a:latin typeface="Calibri"/>
              </a:rPr>
              <a:t>Code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27B"/>
                </a:solidFill>
                <a:latin typeface="Calibri"/>
              </a:rPr>
              <a:t>(SQL Optimization is the fifth agent — standalone, not in this chain.)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832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0B2E59"/>
                </a:solidFill>
                <a:latin typeface="Calibri"/>
              </a:rPr>
              <a:t>Input — </a:t>
            </a:r>
            <a:r>
              <a:rPr sz="1600" b="0" i="0">
                <a:solidFill>
                  <a:srgbClr val="3A3F47"/>
                </a:solidFill>
                <a:latin typeface="Calibri"/>
              </a:rPr>
              <a:t>one FRD feed contract + one STTM mapping contract per feed — machine-readable, already approved upstream.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B2E59"/>
                </a:solidFill>
                <a:latin typeface="Calibri"/>
              </a:rPr>
              <a:t>Output, per feed — </a:t>
            </a:r>
            <a:r>
              <a:rPr sz="1600" b="0" i="0">
                <a:solidFill>
                  <a:srgbClr val="3A3F47"/>
                </a:solidFill>
                <a:latin typeface="Calibri"/>
              </a:rPr>
              <a:t>PySpark pipeline modules, Delta Lake DDL, a pytest suite, a Databricks Workflows job, one runnable notebook, and a human-readable report.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B2E59"/>
                </a:solidFill>
                <a:latin typeface="Calibri"/>
              </a:rPr>
              <a:t>Bonus — </a:t>
            </a:r>
            <a:r>
              <a:rPr sz="1600" b="0" i="0">
                <a:solidFill>
                  <a:srgbClr val="3A3F47"/>
                </a:solidFill>
                <a:latin typeface="Calibri"/>
              </a:rPr>
              <a:t>it can also read the client's STTM Excel workbook directly and extract the mapping contract itself — deterministically, no AI involved.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E59"/>
                </a:solidFill>
                <a:latin typeface="Calibri"/>
              </a:rPr>
              <a:t>How it works — the two-layer trust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600" b="1" i="0">
                <a:solidFill>
                  <a:srgbClr val="0F5CA8"/>
                </a:solidFill>
                <a:latin typeface="Calibri"/>
              </a:rPr>
              <a:t>Everything derivable from the contracts is written by templates. The AI never writes production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7B"/>
                </a:solidFill>
                <a:latin typeface="Calibri"/>
              </a:rPr>
              <a:t>AmeriHealth Caritas · AI-in-Engineering · CodeGen (Data Engineer Agent) demo — 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5349240" cy="402336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/>
          <a:lstStyle/>
          <a:p>
            <a:pPr algn="ctr"/>
            <a:r>
              <a:rPr sz="1800" b="1" i="0">
                <a:solidFill>
                  <a:srgbClr val="0B2E59"/>
                </a:solidFill>
                <a:latin typeface="Calibri"/>
              </a:rPr>
              <a:t>Layer 1 — deterministic templates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0F5CA8"/>
                </a:solidFill>
                <a:latin typeface="Calibri"/>
              </a:rPr>
              <a:t>Jinja2 templates, zero AI:</a:t>
            </a:r>
            <a:r>
              <a:rPr sz="1500" b="0" i="0">
                <a:solidFill>
                  <a:srgbClr val="3A3F47"/>
                </a:solidFill>
                <a:latin typeface="Calibri"/>
              </a:rPr>
              <a:t> same contracts in, same bytes out, every single run.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0F5CA8"/>
                </a:solidFill>
                <a:latin typeface="Calibri"/>
              </a:rPr>
              <a:t>Provenance banner on every file:</a:t>
            </a:r>
            <a:r>
              <a:rPr sz="1500" b="0" i="0">
                <a:solidFill>
                  <a:srgbClr val="3A3F47"/>
                </a:solidFill>
                <a:latin typeface="Calibri"/>
              </a:rPr>
              <a:t> which contracts produced it, plus their sha256 fingerprints — code traces back to an approved document.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0F5CA8"/>
                </a:solidFill>
                <a:latin typeface="Calibri"/>
              </a:rPr>
              <a:t>Covers everything the contracts fully specify:</a:t>
            </a:r>
            <a:r>
              <a:rPr sz="1500" b="0" i="0">
                <a:solidFill>
                  <a:srgbClr val="3A3F47"/>
                </a:solidFill>
                <a:latin typeface="Calibri"/>
              </a:rPr>
              <a:t> readers, mappings, audits, rejects, writers, tests, DDL, job config.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874519"/>
            <a:ext cx="5349240" cy="402336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/>
          <a:lstStyle/>
          <a:p>
            <a:pPr algn="ctr"/>
            <a:r>
              <a:rPr sz="1800" b="1" i="0">
                <a:solidFill>
                  <a:srgbClr val="0B2E59"/>
                </a:solidFill>
                <a:latin typeface="Calibri"/>
              </a:rPr>
              <a:t>Layer 2 — the AI, tightly fenced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0F5CA8"/>
                </a:solidFill>
                <a:latin typeface="Calibri"/>
              </a:rPr>
              <a:t>Claude (Anthropic) sees only the leftovers:</a:t>
            </a:r>
            <a:r>
              <a:rPr sz="1500" b="0" i="0">
                <a:solidFill>
                  <a:srgbClr val="3A3F47"/>
                </a:solidFill>
                <a:latin typeface="Calibri"/>
              </a:rPr>
              <a:t> free-text validation rules the deterministic compiler can't map.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0F5CA8"/>
                </a:solidFill>
                <a:latin typeface="Calibri"/>
              </a:rPr>
              <a:t>Its suggestions land in a review file</a:t>
            </a:r>
            <a:r>
              <a:rPr sz="1500" b="0" i="0">
                <a:solidFill>
                  <a:srgbClr val="3A3F47"/>
                </a:solidFill>
                <a:latin typeface="Calibri"/>
              </a:rPr>
              <a:t> (candidates.json) for an engineer — never inside the generated modules.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0F5CA8"/>
                </a:solidFill>
                <a:latin typeface="Calibri"/>
              </a:rPr>
              <a:t>Verbatim grounding check:</a:t>
            </a:r>
            <a:r>
              <a:rPr sz="1500" b="0" i="0">
                <a:solidFill>
                  <a:srgbClr val="3A3F47"/>
                </a:solidFill>
                <a:latin typeface="Calibri"/>
              </a:rPr>
              <a:t> every citation must appear word-for-word in the contract text, or it is rejected.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E59"/>
                </a:solidFill>
                <a:latin typeface="Calibri"/>
              </a:rPr>
              <a:t>The gate — an honest report card for every feed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600" b="1" i="0">
                <a:solidFill>
                  <a:srgbClr val="0F5CA8"/>
                </a:solidFill>
                <a:latin typeface="Calibri"/>
              </a:rPr>
              <a:t>Every feed ends in a computed verdict. “Something needs a human” is a first-class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7B"/>
                </a:solidFill>
                <a:latin typeface="Calibri"/>
              </a:rPr>
              <a:t>AmeriHealth Caritas · AI-in-Engineering · CodeGen (Data Engineer Agent) demo — 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2651760" cy="5486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810511"/>
            <a:ext cx="79552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A3F47"/>
                </a:solidFill>
                <a:latin typeface="Calibri"/>
              </a:rPr>
              <a:t>Every rule compiled deterministically, lint clean, tests pass, nothing pending.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017519"/>
            <a:ext cx="2651760" cy="54864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PASS_WITH_FLAGS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953511"/>
            <a:ext cx="79552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A3F47"/>
                </a:solidFill>
                <a:latin typeface="Calibri"/>
              </a:rPr>
              <a:t>Code is clean, but something needs a human: AI candidates awaiting approval, contradictory or notification rules. Today's demo feeds land here — that's correct behavior, not a failure.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160519"/>
            <a:ext cx="2651760" cy="548640"/>
          </a:xfrm>
          <a:prstGeom prst="rect">
            <a:avLst/>
          </a:prstGeom>
          <a:solidFill>
            <a:srgbClr val="9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096511"/>
            <a:ext cx="79552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A3F47"/>
                </a:solidFill>
                <a:latin typeface="Calibri"/>
              </a:rPr>
              <a:t>Do not ship: contract mismatch, lint or test failure. Fix the contracts and regenerate.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B2E59"/>
                </a:solidFill>
                <a:latin typeface="Calibri"/>
              </a:rPr>
              <a:t>Gate checks mirror the downstream Code Review Agent: </a:t>
            </a:r>
            <a:r>
              <a:rPr sz="1400" b="0" i="0">
                <a:solidFill>
                  <a:srgbClr val="3A3F47"/>
                </a:solidFill>
                <a:latin typeface="Calibri"/>
              </a:rPr>
              <a:t>ruff lint, debug-statement scan, secrets scan, one test file per module.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E59"/>
                </a:solidFill>
                <a:latin typeface="Calibri"/>
              </a:rPr>
              <a:t>Humans stay in charge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600" b="1" i="0">
                <a:solidFill>
                  <a:srgbClr val="0F5CA8"/>
                </a:solidFill>
                <a:latin typeface="Calibri"/>
              </a:rPr>
              <a:t>The agent proposes; the engineer confirms. Nothing merges itself — by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7B"/>
                </a:solidFill>
                <a:latin typeface="Calibri"/>
              </a:rPr>
              <a:t>AmeriHealth Caritas · AI-in-Engineering · CodeGen (Data Engineer Agent) demo —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Every AI suggestion waits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in the dashboard as “pending engineer approval”, showing the rule it came from, its rationale, and the exact contract text it cites.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Approve is a recorded decision, not a merge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even an approved candidate must be implemented by an engineer in a follow-up commit.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Generated code is never hand-edited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engineers fix the contracts or templates and regenerate, so the code always matches an approved source.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An engineer owns every PR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and each one still goes through the Code Review Agent before production.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E59"/>
                </a:solidFill>
                <a:latin typeface="Calibri"/>
              </a:rPr>
              <a:t>The demo you're about to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600" b="1" i="0">
                <a:solidFill>
                  <a:srgbClr val="0F5CA8"/>
                </a:solidFill>
                <a:latin typeface="Calibri"/>
              </a:rPr>
              <a:t>A real, live pipeline run: ~3 billed API calls, about $0.10, roughly 20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7B"/>
                </a:solidFill>
                <a:latin typeface="Calibri"/>
              </a:rPr>
              <a:t>AmeriHealth Caritas · AI-in-Engineering · CodeGen (Data Engineer Agent) demo —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Cost shown before spending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the Run-live button states the price and asks for confirmation first.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Watch the stages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extract the STTM workbook → resolve contracts → compile rules → Layer-2 reasoning (the only billed step) → emit code → gate.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Results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three CV feeds, all PASS_WITH_FLAGS, with a LIVE badge on screen.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The finale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we open one AI candidate and click Approve in front of you — and the app itself says merging remains a manual engineering step.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If the network fails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a recorded run replays byte-for-byte, offline, with a REPLAY badge — same walk, zero API calls.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B727B"/>
                </a:solidFill>
                <a:latin typeface="Calibri"/>
              </a:rPr>
              <a:t>Live AI output varies slightly run to run — the phrasing changes; the contracts it must cite and the gate it must pass do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E59"/>
                </a:solidFill>
                <a:latin typeface="Calibri"/>
              </a:rPr>
              <a:t>Why this is good for AmeriHealth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600" b="1" i="0">
                <a:solidFill>
                  <a:srgbClr val="0F5CA8"/>
                </a:solidFill>
                <a:latin typeface="Calibri"/>
              </a:rPr>
              <a:t>Faster feeds, consistent code, full auditability — with engineers still making every final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7B"/>
                </a:solidFill>
                <a:latin typeface="Calibri"/>
              </a:rPr>
              <a:t>AmeriHealth Caritas · AI-in-Engineering · CodeGen (Data Engineer Agent) demo — 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520440" cy="192024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500" b="1" i="0">
                <a:solidFill>
                  <a:srgbClr val="0F5CA8"/>
                </a:solidFill>
                <a:latin typeface="Calibri"/>
              </a:rPr>
              <a:t>Speed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3A3F47"/>
                </a:solidFill>
                <a:latin typeface="Calibri"/>
              </a:rPr>
              <a:t>Pipeline scaffolding in seconds instead of engineer-weeks per feed — engineers spend their time on judgment, not boilerplate.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874519"/>
            <a:ext cx="3520440" cy="192024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500" b="1" i="0">
                <a:solidFill>
                  <a:srgbClr val="0F5CA8"/>
                </a:solidFill>
                <a:latin typeface="Calibri"/>
              </a:rPr>
              <a:t>Consistency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3A3F47"/>
                </a:solidFill>
                <a:latin typeface="Calibri"/>
              </a:rPr>
              <a:t>Every pipeline has the same reviewed shape. Output is byte-stable, so a diff shows real changes only.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74519"/>
            <a:ext cx="3520440" cy="192024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500" b="1" i="0">
                <a:solidFill>
                  <a:srgbClr val="0F5CA8"/>
                </a:solidFill>
                <a:latin typeface="Calibri"/>
              </a:rPr>
              <a:t>Auditability &amp; compliance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3A3F47"/>
                </a:solidFill>
                <a:latin typeface="Calibri"/>
              </a:rPr>
              <a:t>Every file names the approved contract (with sha256) that produced it. PHI is masked to last-4 at every egress; no secrets ever enter the code — what a Medicaid managed-care organization needs.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59"/>
            <a:ext cx="3520440" cy="192024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500" b="1" i="0">
                <a:solidFill>
                  <a:srgbClr val="0F5CA8"/>
                </a:solidFill>
                <a:latin typeface="Calibri"/>
              </a:rPr>
              <a:t>Tiny, fenced AI spend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3A3F47"/>
                </a:solidFill>
                <a:latin typeface="Calibri"/>
              </a:rPr>
              <a:t>About $0.10 of Claude per live run, confined to reviewing leftover rules. Anthropic is the program's sole model vendor.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4023359"/>
            <a:ext cx="3520440" cy="192024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500" b="1" i="0">
                <a:solidFill>
                  <a:srgbClr val="0F5CA8"/>
                </a:solidFill>
                <a:latin typeface="Calibri"/>
              </a:rPr>
              <a:t>Fits the existing stack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3A3F47"/>
                </a:solidFill>
                <a:latin typeface="Calibri"/>
              </a:rPr>
              <a:t>Plain PySpark + Delta Lake + Databricks Workflows today, structured for a mechanical DLT port later.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4023359"/>
            <a:ext cx="3520440" cy="192024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500" b="1" i="0">
                <a:solidFill>
                  <a:srgbClr val="0F5CA8"/>
                </a:solidFill>
                <a:latin typeface="Calibri"/>
              </a:rPr>
              <a:t>Safer reviews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3A3F47"/>
                </a:solidFill>
                <a:latin typeface="Calibri"/>
              </a:rPr>
              <a:t>Reviewers get a report tying every rule to code and every AI suggestion to verbatim contract text — less reverse-engineering, better catches.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E59"/>
                </a:solidFill>
                <a:latin typeface="Calibri"/>
              </a:rPr>
              <a:t>Honest limits — and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600" b="1" i="0">
                <a:solidFill>
                  <a:srgbClr val="0F5CA8"/>
                </a:solidFill>
                <a:latin typeface="Calibri"/>
              </a:rPr>
              <a:t>We'll tell you what isn't done yet before you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7B"/>
                </a:solidFill>
                <a:latin typeface="Calibri"/>
              </a:rPr>
              <a:t>AmeriHealth Caritas · AI-in-Engineering · CodeGen (Data Engineer Agent) demo —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CAQH segmented workbooks (H/D/T) aren't extracted yet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awaiting the source data dictionary; today's CAQH feed runs on a clearly-labeled synthetic contract.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First run inside a real Databricks workspace is pending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today the pipeline runs on the demo machine; the Databricks Apps deployment is built but not yet exercised.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Approve → merge stays manual on purpose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wiring approved candidates into generated code is the planned v2, once trust is earned.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B2E59"/>
                </a:solidFill>
                <a:latin typeface="Calibri"/>
              </a:rPr>
              <a:t>Notification rules have no recipients configured yet — </a:t>
            </a:r>
            <a:r>
              <a:rPr sz="1700" b="0" i="0">
                <a:solidFill>
                  <a:srgbClr val="3A3F47"/>
                </a:solidFill>
                <a:latin typeface="Calibri"/>
              </a:rPr>
              <a:t>they surface as flags until the distribution lists are confirmed.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864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B2E59"/>
                </a:solidFill>
                <a:latin typeface="Calibri"/>
              </a:rPr>
              <a:t>Next: </a:t>
            </a:r>
            <a:r>
              <a:rPr sz="1500" b="0" i="0">
                <a:solidFill>
                  <a:srgbClr val="3A3F47"/>
                </a:solidFill>
                <a:latin typeface="Calibri"/>
              </a:rPr>
              <a:t>real CAQH STTM → extractor segmented mode → workspace deployment → approval-merge v2.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 i="0">
                <a:solidFill>
                  <a:srgbClr val="E8F0F9"/>
                </a:solidFill>
                <a:latin typeface="Calibri"/>
              </a:rPr>
              <a:t>1 ·  Templates write the code — the same contracts always produce the same bytes, traceable by fingerprint.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E8F0F9"/>
                </a:solidFill>
                <a:latin typeface="Calibri"/>
              </a:rPr>
              <a:t>2 ·  The AI only reviews the leftovers — and must quote the contract word-for-word to be heard.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E8F0F9"/>
                </a:solidFill>
                <a:latin typeface="Calibri"/>
              </a:rPr>
              <a:t>3 ·  Engineers make every final call — approval is a decision on record, never an automatic merge.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0E7C7B"/>
                </a:solidFill>
                <a:latin typeface="Calibri"/>
              </a:rPr>
              <a:t>Questions welcome — now, the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