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[Soham · &lt;1 min]</a:t>
            </a:r>
          </a:p>
          <a:p>
            <a:r>
              <a:t>Welcome. One breath of framing: "This is CodeGen, the third agent in the AI-in-Engineering program we're building with you — it writes Databricks ingestion pipelines from the contracts the earlier agents produce."</a:t>
            </a:r>
          </a:p>
          <a:p>
            <a:r>
              <a:t>Promise up front: "Everything you'll see today is real pipeline output, and we'll run it live in front of you — it costs about ten cents, and the app will tell you that before it spends anything."</a:t>
            </a:r>
          </a:p>
          <a:p>
            <a:r>
              <a:t>Pre-flight (before the audience arrives, per docs/DEMO_RUNBOOK.md): run_demo.sh is up on :8571, the Live card shows the run button (not "no ANTHROPIC_API_KEY"), the replay set live_e2e_20260807 loads, decisions are reset so the finale shows "pending engineer approval".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[Soham · ~1 min]</a:t>
            </a:r>
          </a:p>
          <a:p>
            <a:r>
              <a:t>Keep this relatable — no jargon beyond the names on the slide. The analogy: "Today, a person reads a spreadsheet and a Word document and hand-types them into code. Every feed, every time."</a:t>
            </a:r>
          </a:p>
          <a:p>
            <a:r>
              <a:t>Land the pain in their world: each new feed (MIDS, CAQH, the CV files) is weeks of an engineer's time, and most of it is faithful copying, not clever engineering.</a:t>
            </a:r>
          </a:p>
          <a:p>
            <a:r>
              <a:t>Last bullet is the setup for the whole deck: reviewers can't judge the code without re-reading the spreadsheet — remember that when we get to provenance.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[Soham · ~1.5 min]</a:t>
            </a:r>
          </a:p>
          <a:p>
            <a:r>
              <a:t>Walk the chevrons left to right. "The first two agents turn business documents into machine-readable contracts. Today's agent — CodeGen — is the one that turns those contracts into code. A separate Code Review agent checks its output."</a:t>
            </a:r>
          </a:p>
          <a:p>
            <a:r>
              <a:t>Key trust point: CodeGen only ever starts from APPROVED contracts — humans signed off upstream before this agent touches anything.</a:t>
            </a:r>
          </a:p>
          <a:p>
            <a:r>
              <a:t>Mention the bonus quietly but clearly: it also reads the client's actual STTM Excel workbook and extracts the mapping contract itself, deterministically — you'll see that as the first stage of the live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[Soham · ~2 min — the most important slide; slow down]</a:t>
            </a:r>
          </a:p>
          <a:p>
            <a:r>
              <a:t>"If you remember one slide, make it this one."</a:t>
            </a:r>
          </a:p>
          <a:p>
            <a:r>
              <a:t>Left card: templates, not AI, write the code. Same contracts in, same bytes out — run it a thousand times, identical files. Every file opens with a banner naming the contracts and their sha256 — explain sha256 as "a fingerprint: if the contract changed by one character, the fingerprint changes, so code always traces to an exact approved document."</a:t>
            </a:r>
          </a:p>
          <a:p>
            <a:r>
              <a:t>Right card: the AI (Claude) only sees the leftovers — free-text validation rules the deterministic compiler couldn't map. Its output goes into a review file for an engineer, never into the pipeline code. And it must quote the contract word-for-word — the grounding check rejects anything it can't find verbatim in the source.</a:t>
            </a:r>
          </a:p>
          <a:p>
            <a:r>
              <a:t>Anticipate the question "so what does the AI actually do?" — answer: "it drafts a suggestion and cites its source, like a junior analyst; it never commits code."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[Soham · ~1 min]</a:t>
            </a:r>
          </a:p>
          <a:p>
            <a:r>
              <a:t>Report-card analogy. The middle row is the one to sell BEFORE the demo, because all three demo feeds land there: "PASS_WITH_FLAGS is the honest middle state — the code is clean, but something needs a human. That's correct behavior, not a failure."</a:t>
            </a:r>
          </a:p>
          <a:p>
            <a:r>
              <a:t>Preempt "why isn't it PASS?": because every demo feed has a rule only a human should sign off — the system is refusing to pretend otherwise.</a:t>
            </a:r>
          </a:p>
          <a:p>
            <a:r>
              <a:t>Bottom line ties to the program: the gate pre-flights the exact checks the Code Review Agent runs downstream (ruff, debug scan, secrets scan, test-per-module).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[Soham · ~1 min — hand off to Arjun after this slide]</a:t>
            </a:r>
          </a:p>
          <a:p>
            <a:r>
              <a:t>The thesis sentence, verbatim: "The agent proposes; the engineer confirms."</a:t>
            </a:r>
          </a:p>
          <a:p>
            <a:r>
              <a:t>Even clicking Approve doesn't merge anything — it records a decision; an engineer still implements it in a follow-up commit. That's deliberate v1 design, not a missing feature.</a:t>
            </a:r>
          </a:p>
          <a:p>
            <a:r>
              <a:t>Also: nobody hand-edits generated code — you fix the contract or the template and regenerate, so code can never drift away from an approved source.</a:t>
            </a:r>
          </a:p>
          <a:p>
            <a:r>
              <a:t>Handoff: "Arjun will now run the whole thing live."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[Arjun · demo intro ~1 min, then switch to the app]</a:t>
            </a:r>
          </a:p>
          <a:p>
            <a:r>
              <a:t>Open on the Run modes page. Frame the two cards in one breath: "everything you'll see is real pipeline output — the only choice is whether we spend ~10 cents making it fresh right now, or replay a recorded run byte-for-byte."</a:t>
            </a:r>
          </a:p>
          <a:p>
            <a:r>
              <a:t>Fire Live and READ THE CONFIRMATION DIALOG ALOUD (~3 billed calls, ≈$0.10, ~20s): "the demo tells you what it costs before it spends anything."</a:t>
            </a:r>
          </a:p>
          <a:p>
            <a:r>
              <a:t>Narrate stages as they appear: extracting workbook (Excel → contract, no AI) → resolving contracts → per feed: compiling rules → Layer-2 reasoning (the ONLY billed step) → emitting code → gate.</a:t>
            </a:r>
          </a:p>
          <a:p>
            <a:r>
              <a:t>Results walk: dashboard (3 CV feeds, PASS_WITH_FLAGS, point at the LIVE badge) → one cv_* feed's gate checks all green → Flags panel → open the candidate: rule, rationale, verbatim citation, PySpark sketch → click APPROVE in front of them and read the on-screen copy: "merge into generated code remains a manual step."</a:t>
            </a:r>
          </a:p>
          <a:p>
            <a:r>
              <a:t>If someone notices live output differs from the replay set: "the agent proposes; the engineer confirms. What varies is the proposal's phrasing, never the contract it must cite or the gate it must pass."</a:t>
            </a:r>
          </a:p>
          <a:p>
            <a:r>
              <a:t>CONTINGENCY (no key / API failure / no network): Replay card → live_e2e_20260807 → Load. Identical walk, REPLAY badge, zero API calls. A completed live run is also reloadable from Past live runs if you navigate away mid-demo.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[Soham or Arjun, post-demo · ~2 min]</a:t>
            </a:r>
          </a:p>
          <a:p>
            <a:r>
              <a:t>Work the room by card — different cards land with different people:</a:t>
            </a:r>
          </a:p>
          <a:p>
            <a:r>
              <a:t>• Leadership: Speed + Consistency (weeks → seconds of scaffolding; engineers on judgment, not boilerplate).</a:t>
            </a:r>
          </a:p>
          <a:p>
            <a:r>
              <a:t>• Compliance/security: Auditability card — sha256 provenance on every file, PHI masked to last-4 at every egress, no secrets in code. Say "Medicaid" out loud; this is built for a regulated environment.</a:t>
            </a:r>
          </a:p>
          <a:p>
            <a:r>
              <a:t>• Finance/procurement: Tiny fenced AI spend — ~$0.10 a run, one vendor (Anthropic), AI never writes production code.</a:t>
            </a:r>
          </a:p>
          <a:p>
            <a:r>
              <a:t>• Engineers/architects: Fits the existing stack — plain PySpark + Delta + Workflows, structured for a mechanical DLT port; nothing exotic to adopt.</a:t>
            </a:r>
          </a:p>
          <a:p>
            <a:r>
              <a:t>Close the slide with the takeaway line at the top, verbatim.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[Soham · ~1 min — deliver this confidently; honesty is the sales pitch]</a:t>
            </a:r>
          </a:p>
          <a:p>
            <a:r>
              <a:t>"We'd rather tell you what isn't done than have you find out."</a:t>
            </a:r>
          </a:p>
          <a:p>
            <a:r>
              <a:t>CAQH segmented workbooks: blocked on the source data dictionary — the demo's CAQH feed runs on a clearly-labeled synthetic contract, and we'll say so on screen.</a:t>
            </a:r>
          </a:p>
          <a:p>
            <a:r>
              <a:t>Workspace deployment: the Databricks Apps packaging exists but hasn't touched a real workspace yet — that's the next milestone.</a:t>
            </a:r>
          </a:p>
          <a:p>
            <a:r>
              <a:t>Approve→merge staying manual is a CHOICE (v2 once trust is earned) — echo the HITL slide.</a:t>
            </a:r>
          </a:p>
          <a:p>
            <a:r>
              <a:t>Then the next-steps line at the bottom, left to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[Soham · &lt;1 min, then Q&amp;A]</a:t>
            </a:r>
          </a:p>
          <a:p>
            <a:r>
              <a:t>Read the three lines slowly — they're the whole talk: templates write the code; the AI only reviews leftovers and must quote its source; engineers make every final call.</a:t>
            </a:r>
          </a:p>
          <a:p>
            <a:r>
              <a:t>Then open the floor. Likely questions and where the answer lives: "what does a live run cost?" (~$0.09–0.10, docs/LIVE_RUN_RECORD.md) · "why do live and replay outputs differ?" (non-determinism framing, runbook §3) · "when does this touch our workspace?" (limits slide, milestone pending).</a:t>
            </a:r>
          </a:p>
          <a:p>
            <a:r>
              <a:t>If Q&amp;A runs long, the replay set works offline — you can re-open any part of the walk on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"/>
              </a:rPr>
              <a:t>CodeGen — the Data Engineer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0" i="0">
                <a:solidFill>
                  <a:srgbClr val="E8F0F9"/>
                </a:solidFill>
                <a:latin typeface="Calibri"/>
              </a:rPr>
              <a:t>From approved contracts to production-shaped Databricks pipelines — with a live run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Calibri"/>
              </a:rPr>
              <a:t>AmeriHealth Caritas · AI-in-Engineering program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E8F0F9"/>
                </a:solidFill>
                <a:latin typeface="Calibri"/>
              </a:rPr>
              <a:t>Presented by Soham &amp; Arjun ·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5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2E59"/>
                </a:solidFill>
                <a:latin typeface="Calibri"/>
              </a:rPr>
              <a:t>The problem we're solving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91672" cy="566928"/>
          </a:xfrm>
          <a:prstGeom prst="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600" b="1" i="0">
                <a:solidFill>
                  <a:srgbClr val="0F5CA8"/>
                </a:solidFill>
                <a:latin typeface="Calibri"/>
              </a:rPr>
              <a:t>Every new data feed costs an engineer weeks of careful, repetitive translation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727B"/>
                </a:solidFill>
                <a:latin typeface="Calibri"/>
              </a:rPr>
              <a:t>AmeriHealth Caritas · AI-in-Engineering · CodeGen (Data Engineer Agent) demo —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0B2E59"/>
                </a:solidFill>
                <a:latin typeface="Calibri"/>
              </a:rPr>
              <a:t>Feeds keep arriving — </a:t>
            </a:r>
            <a:r>
              <a:rPr sz="1700" b="0" i="0">
                <a:solidFill>
                  <a:srgbClr val="3A3F47"/>
                </a:solidFill>
                <a:latin typeface="Calibri"/>
              </a:rPr>
              <a:t>eligibility, provider, and risk files (MIDS, CAQH, CV …) each need their own ingestion pipeline in Databricks.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0B2E59"/>
                </a:solidFill>
                <a:latin typeface="Calibri"/>
              </a:rPr>
              <a:t>The work is translation — </a:t>
            </a:r>
            <a:r>
              <a:rPr sz="1700" b="0" i="0">
                <a:solidFill>
                  <a:srgbClr val="3A3F47"/>
                </a:solidFill>
                <a:latin typeface="Calibri"/>
              </a:rPr>
              <a:t>business requirements (BRD → FRD) and mapping spreadsheets (STTM) get hand-translated into PySpark code, Delta Lake tables, tests, and jobs.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0B2E59"/>
                </a:solidFill>
                <a:latin typeface="Calibri"/>
              </a:rPr>
              <a:t>It's repetitive and error-prone — </a:t>
            </a:r>
            <a:r>
              <a:rPr sz="1700" b="0" i="0">
                <a:solidFill>
                  <a:srgbClr val="3A3F47"/>
                </a:solidFill>
                <a:latin typeface="Calibri"/>
              </a:rPr>
              <a:t>the same patterns rebuilt by hand, slightly differently, by every engineer, every time.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0B2E59"/>
                </a:solidFill>
                <a:latin typeface="Calibri"/>
              </a:rPr>
              <a:t>Reviews are slow — </a:t>
            </a:r>
            <a:r>
              <a:rPr sz="1700" b="0" i="0">
                <a:solidFill>
                  <a:srgbClr val="3A3F47"/>
                </a:solidFill>
                <a:latin typeface="Calibri"/>
              </a:rPr>
              <a:t>reviewers must reverse-engineer what the spreadsheet said before they can judge the code.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5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2E59"/>
                </a:solidFill>
                <a:latin typeface="Calibri"/>
              </a:rPr>
              <a:t>Where CodeGen fits — a five-agent assembly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91672" cy="566928"/>
          </a:xfrm>
          <a:prstGeom prst="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600" b="1" i="0">
                <a:solidFill>
                  <a:srgbClr val="0F5CA8"/>
                </a:solidFill>
                <a:latin typeface="Calibri"/>
              </a:rPr>
              <a:t>CodeGen is agent #3: it turns approved, machine-readable contracts into pipeline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727B"/>
                </a:solidFill>
                <a:latin typeface="Calibri"/>
              </a:rPr>
              <a:t>AmeriHealth Caritas · AI-in-Engineering · CodeGen (Data Engineer Agent) demo — 3</a:t>
            </a:r>
          </a:p>
        </p:txBody>
      </p:sp>
      <p:sp>
        <p:nvSpPr>
          <p:cNvPr id="6" name="Chevron 5"/>
          <p:cNvSpPr/>
          <p:nvPr/>
        </p:nvSpPr>
        <p:spPr>
          <a:xfrm>
            <a:off x="685800" y="1965960"/>
            <a:ext cx="2514600" cy="777240"/>
          </a:xfrm>
          <a:prstGeom prst="chevron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0B2E59"/>
                </a:solidFill>
                <a:latin typeface="Calibri"/>
              </a:rPr>
              <a:t>BRD → FRD</a:t>
            </a:r>
          </a:p>
        </p:txBody>
      </p:sp>
      <p:sp>
        <p:nvSpPr>
          <p:cNvPr id="7" name="Chevron 6"/>
          <p:cNvSpPr/>
          <p:nvPr/>
        </p:nvSpPr>
        <p:spPr>
          <a:xfrm>
            <a:off x="3456432" y="1965960"/>
            <a:ext cx="2514600" cy="777240"/>
          </a:xfrm>
          <a:prstGeom prst="chevron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0B2E59"/>
                </a:solidFill>
                <a:latin typeface="Calibri"/>
              </a:rPr>
              <a:t>FRD → STTM</a:t>
            </a:r>
          </a:p>
        </p:txBody>
      </p:sp>
      <p:sp>
        <p:nvSpPr>
          <p:cNvPr id="8" name="Chevron 7"/>
          <p:cNvSpPr/>
          <p:nvPr/>
        </p:nvSpPr>
        <p:spPr>
          <a:xfrm>
            <a:off x="6227064" y="1965960"/>
            <a:ext cx="2514600" cy="777240"/>
          </a:xfrm>
          <a:prstGeom prst="chevron">
            <a:avLst/>
          </a:prstGeom>
          <a:solidFill>
            <a:srgbClr val="0F5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CodeGen (today)</a:t>
            </a:r>
          </a:p>
        </p:txBody>
      </p:sp>
      <p:sp>
        <p:nvSpPr>
          <p:cNvPr id="9" name="Chevron 8"/>
          <p:cNvSpPr/>
          <p:nvPr/>
        </p:nvSpPr>
        <p:spPr>
          <a:xfrm>
            <a:off x="8997696" y="1965960"/>
            <a:ext cx="2514600" cy="777240"/>
          </a:xfrm>
          <a:prstGeom prst="chevron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0B2E59"/>
                </a:solidFill>
                <a:latin typeface="Calibri"/>
              </a:rPr>
              <a:t>Code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8036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27B"/>
                </a:solidFill>
                <a:latin typeface="Calibri"/>
              </a:rPr>
              <a:t>(SQL Optimization is the fifth agent — standalone, not in this chain.)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8328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0B2E59"/>
                </a:solidFill>
                <a:latin typeface="Calibri"/>
              </a:rPr>
              <a:t>Input — </a:t>
            </a:r>
            <a:r>
              <a:rPr sz="1600" b="0" i="0">
                <a:solidFill>
                  <a:srgbClr val="3A3F47"/>
                </a:solidFill>
                <a:latin typeface="Calibri"/>
              </a:rPr>
              <a:t>one FRD feed contract + one STTM mapping contract per feed — machine-readable, already approved upstream.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0B2E59"/>
                </a:solidFill>
                <a:latin typeface="Calibri"/>
              </a:rPr>
              <a:t>Output, per feed — </a:t>
            </a:r>
            <a:r>
              <a:rPr sz="1600" b="0" i="0">
                <a:solidFill>
                  <a:srgbClr val="3A3F47"/>
                </a:solidFill>
                <a:latin typeface="Calibri"/>
              </a:rPr>
              <a:t>PySpark pipeline modules, Delta Lake DDL, a pytest suite, a Databricks Workflows job, one runnable notebook, and a human-readable report.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0B2E59"/>
                </a:solidFill>
                <a:latin typeface="Calibri"/>
              </a:rPr>
              <a:t>Bonus — </a:t>
            </a:r>
            <a:r>
              <a:rPr sz="1600" b="0" i="0">
                <a:solidFill>
                  <a:srgbClr val="3A3F47"/>
                </a:solidFill>
                <a:latin typeface="Calibri"/>
              </a:rPr>
              <a:t>it can also read the client's STTM Excel workbook directly and extract the mapping contract itself — deterministically, no AI involved.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5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2E59"/>
                </a:solidFill>
                <a:latin typeface="Calibri"/>
              </a:rPr>
              <a:t>How it works — the two-layer trust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91672" cy="566928"/>
          </a:xfrm>
          <a:prstGeom prst="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600" b="1" i="0">
                <a:solidFill>
                  <a:srgbClr val="0F5CA8"/>
                </a:solidFill>
                <a:latin typeface="Calibri"/>
              </a:rPr>
              <a:t>Everything derivable from the contracts is written by templates. The AI never writes production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727B"/>
                </a:solidFill>
                <a:latin typeface="Calibri"/>
              </a:rPr>
              <a:t>AmeriHealth Caritas · AI-in-Engineering · CodeGen (Data Engineer Agent) demo — 4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5349240" cy="4023360"/>
          </a:xfrm>
          <a:prstGeom prst="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/>
          <a:lstStyle/>
          <a:p>
            <a:pPr algn="ctr"/>
            <a:r>
              <a:rPr sz="1800" b="1" i="0">
                <a:solidFill>
                  <a:srgbClr val="0B2E59"/>
                </a:solidFill>
                <a:latin typeface="Calibri"/>
              </a:rPr>
              <a:t>Layer 1 — deterministic templates</a:t>
            </a:r>
          </a:p>
          <a:p>
            <a:pPr>
              <a:spcBef>
                <a:spcPts val="1000"/>
              </a:spcBef>
            </a:pPr>
            <a:r>
              <a:rPr sz="1500" b="1" i="0">
                <a:solidFill>
                  <a:srgbClr val="0F5CA8"/>
                </a:solidFill>
                <a:latin typeface="Calibri"/>
              </a:rPr>
              <a:t>Jinja2 templates, zero AI:</a:t>
            </a:r>
            <a:r>
              <a:rPr sz="1500" b="0" i="0">
                <a:solidFill>
                  <a:srgbClr val="3A3F47"/>
                </a:solidFill>
                <a:latin typeface="Calibri"/>
              </a:rPr>
              <a:t> same contracts in, same bytes out, every single run.</a:t>
            </a:r>
          </a:p>
          <a:p>
            <a:pPr>
              <a:spcBef>
                <a:spcPts val="1000"/>
              </a:spcBef>
            </a:pPr>
            <a:r>
              <a:rPr sz="1500" b="1" i="0">
                <a:solidFill>
                  <a:srgbClr val="0F5CA8"/>
                </a:solidFill>
                <a:latin typeface="Calibri"/>
              </a:rPr>
              <a:t>Provenance banner on every file:</a:t>
            </a:r>
            <a:r>
              <a:rPr sz="1500" b="0" i="0">
                <a:solidFill>
                  <a:srgbClr val="3A3F47"/>
                </a:solidFill>
                <a:latin typeface="Calibri"/>
              </a:rPr>
              <a:t> which contracts produced it, plus their sha256 fingerprints — code traces back to an approved document.</a:t>
            </a:r>
          </a:p>
          <a:p>
            <a:pPr>
              <a:spcBef>
                <a:spcPts val="1000"/>
              </a:spcBef>
            </a:pPr>
            <a:r>
              <a:rPr sz="1500" b="1" i="0">
                <a:solidFill>
                  <a:srgbClr val="0F5CA8"/>
                </a:solidFill>
                <a:latin typeface="Calibri"/>
              </a:rPr>
              <a:t>Covers everything the contracts fully specify:</a:t>
            </a:r>
            <a:r>
              <a:rPr sz="1500" b="0" i="0">
                <a:solidFill>
                  <a:srgbClr val="3A3F47"/>
                </a:solidFill>
                <a:latin typeface="Calibri"/>
              </a:rPr>
              <a:t> readers, mappings, audits, rejects, writers, tests, DDL, job config.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874519"/>
            <a:ext cx="5349240" cy="4023360"/>
          </a:xfrm>
          <a:prstGeom prst="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/>
          <a:lstStyle/>
          <a:p>
            <a:pPr algn="ctr"/>
            <a:r>
              <a:rPr sz="1800" b="1" i="0">
                <a:solidFill>
                  <a:srgbClr val="0B2E59"/>
                </a:solidFill>
                <a:latin typeface="Calibri"/>
              </a:rPr>
              <a:t>Layer 2 — the AI, tightly fenced</a:t>
            </a:r>
          </a:p>
          <a:p>
            <a:pPr>
              <a:spcBef>
                <a:spcPts val="1000"/>
              </a:spcBef>
            </a:pPr>
            <a:r>
              <a:rPr sz="1500" b="1" i="0">
                <a:solidFill>
                  <a:srgbClr val="0F5CA8"/>
                </a:solidFill>
                <a:latin typeface="Calibri"/>
              </a:rPr>
              <a:t>Claude (Anthropic) sees only the leftovers:</a:t>
            </a:r>
            <a:r>
              <a:rPr sz="1500" b="0" i="0">
                <a:solidFill>
                  <a:srgbClr val="3A3F47"/>
                </a:solidFill>
                <a:latin typeface="Calibri"/>
              </a:rPr>
              <a:t> free-text validation rules the deterministic compiler can't map.</a:t>
            </a:r>
          </a:p>
          <a:p>
            <a:pPr>
              <a:spcBef>
                <a:spcPts val="1000"/>
              </a:spcBef>
            </a:pPr>
            <a:r>
              <a:rPr sz="1500" b="1" i="0">
                <a:solidFill>
                  <a:srgbClr val="0F5CA8"/>
                </a:solidFill>
                <a:latin typeface="Calibri"/>
              </a:rPr>
              <a:t>Its suggestions land in a review file</a:t>
            </a:r>
            <a:r>
              <a:rPr sz="1500" b="0" i="0">
                <a:solidFill>
                  <a:srgbClr val="3A3F47"/>
                </a:solidFill>
                <a:latin typeface="Calibri"/>
              </a:rPr>
              <a:t> (candidates.json) for an engineer — never inside the generated modules.</a:t>
            </a:r>
          </a:p>
          <a:p>
            <a:pPr>
              <a:spcBef>
                <a:spcPts val="1000"/>
              </a:spcBef>
            </a:pPr>
            <a:r>
              <a:rPr sz="1500" b="1" i="0">
                <a:solidFill>
                  <a:srgbClr val="0F5CA8"/>
                </a:solidFill>
                <a:latin typeface="Calibri"/>
              </a:rPr>
              <a:t>Verbatim grounding check:</a:t>
            </a:r>
            <a:r>
              <a:rPr sz="1500" b="0" i="0">
                <a:solidFill>
                  <a:srgbClr val="3A3F47"/>
                </a:solidFill>
                <a:latin typeface="Calibri"/>
              </a:rPr>
              <a:t> every citation must appear word-for-word in the contract text, or it is rejected.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5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2E59"/>
                </a:solidFill>
                <a:latin typeface="Calibri"/>
              </a:rPr>
              <a:t>The gate — an honest report card for every feed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91672" cy="566928"/>
          </a:xfrm>
          <a:prstGeom prst="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600" b="1" i="0">
                <a:solidFill>
                  <a:srgbClr val="0F5CA8"/>
                </a:solidFill>
                <a:latin typeface="Calibri"/>
              </a:rPr>
              <a:t>Every feed ends in a computed verdict. “Something needs a human” is a first-class answer.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727B"/>
                </a:solidFill>
                <a:latin typeface="Calibri"/>
              </a:rPr>
              <a:t>AmeriHealth Caritas · AI-in-Engineering · CodeGen (Data Engineer Agent) demo — 5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2651760" cy="54864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1810511"/>
            <a:ext cx="79552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3A3F47"/>
                </a:solidFill>
                <a:latin typeface="Calibri"/>
              </a:rPr>
              <a:t>Every rule compiled deterministically, lint clean, tests pass, nothing pending.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17519"/>
            <a:ext cx="2651760" cy="548640"/>
          </a:xfrm>
          <a:prstGeom prst="rect">
            <a:avLst/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PASS_WITH_FLAGS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2953511"/>
            <a:ext cx="79552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3A3F47"/>
                </a:solidFill>
                <a:latin typeface="Calibri"/>
              </a:rPr>
              <a:t>Code is clean, but something needs a human: AI candidates awaiting approval, contradictory or notification rules. Today's demo feeds land here — that's correct behavior, not a failure.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160519"/>
            <a:ext cx="2651760" cy="548640"/>
          </a:xfrm>
          <a:prstGeom prst="rect">
            <a:avLst/>
          </a:prstGeom>
          <a:solidFill>
            <a:srgbClr val="9E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4096511"/>
            <a:ext cx="79552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3A3F47"/>
                </a:solidFill>
                <a:latin typeface="Calibri"/>
              </a:rPr>
              <a:t>Do not ship: contract mismatch, lint or test failure. Fix the contracts and regenerate.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3949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B2E59"/>
                </a:solidFill>
                <a:latin typeface="Calibri"/>
              </a:rPr>
              <a:t>Gate checks mirror the downstream Code Review Agent: </a:t>
            </a:r>
            <a:r>
              <a:rPr sz="1400" b="0" i="0">
                <a:solidFill>
                  <a:srgbClr val="3A3F47"/>
                </a:solidFill>
                <a:latin typeface="Calibri"/>
              </a:rPr>
              <a:t>ruff lint, debug-statement scan, secrets scan, one test file per module.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5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2E59"/>
                </a:solidFill>
                <a:latin typeface="Calibri"/>
              </a:rPr>
              <a:t>Humans stay in charge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91672" cy="566928"/>
          </a:xfrm>
          <a:prstGeom prst="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600" b="1" i="0">
                <a:solidFill>
                  <a:srgbClr val="0F5CA8"/>
                </a:solidFill>
                <a:latin typeface="Calibri"/>
              </a:rPr>
              <a:t>The agent proposes; the engineer confirms. Nothing merges itself — by design.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727B"/>
                </a:solidFill>
                <a:latin typeface="Calibri"/>
              </a:rPr>
              <a:t>AmeriHealth Caritas · AI-in-Engineering · CodeGen (Data Engineer Agent) demo —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 i="0">
                <a:solidFill>
                  <a:srgbClr val="0B2E59"/>
                </a:solidFill>
                <a:latin typeface="Calibri"/>
              </a:rPr>
              <a:t>Every AI suggestion waits — </a:t>
            </a:r>
            <a:r>
              <a:rPr sz="1700" b="0" i="0">
                <a:solidFill>
                  <a:srgbClr val="3A3F47"/>
                </a:solidFill>
                <a:latin typeface="Calibri"/>
              </a:rPr>
              <a:t>in the dashboard as “pending engineer approval”, showing the rule it came from, its rationale, and the exact contract text it cites.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0B2E59"/>
                </a:solidFill>
                <a:latin typeface="Calibri"/>
              </a:rPr>
              <a:t>Approve is a recorded decision, not a merge — </a:t>
            </a:r>
            <a:r>
              <a:rPr sz="1700" b="0" i="0">
                <a:solidFill>
                  <a:srgbClr val="3A3F47"/>
                </a:solidFill>
                <a:latin typeface="Calibri"/>
              </a:rPr>
              <a:t>even an approved candidate must be implemented by an engineer in a follow-up commit.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0B2E59"/>
                </a:solidFill>
                <a:latin typeface="Calibri"/>
              </a:rPr>
              <a:t>Generated code is never hand-edited — </a:t>
            </a:r>
            <a:r>
              <a:rPr sz="1700" b="0" i="0">
                <a:solidFill>
                  <a:srgbClr val="3A3F47"/>
                </a:solidFill>
                <a:latin typeface="Calibri"/>
              </a:rPr>
              <a:t>engineers fix the contracts or templates and regenerate, so the code always matches an approved source.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0B2E59"/>
                </a:solidFill>
                <a:latin typeface="Calibri"/>
              </a:rPr>
              <a:t>An engineer owns every PR — </a:t>
            </a:r>
            <a:r>
              <a:rPr sz="1700" b="0" i="0">
                <a:solidFill>
                  <a:srgbClr val="3A3F47"/>
                </a:solidFill>
                <a:latin typeface="Calibri"/>
              </a:rPr>
              <a:t>and each one still goes through the Code Review Agent before production.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5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2E59"/>
                </a:solidFill>
                <a:latin typeface="Calibri"/>
              </a:rPr>
              <a:t>The demo you're about to see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91672" cy="566928"/>
          </a:xfrm>
          <a:prstGeom prst="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600" b="1" i="0">
                <a:solidFill>
                  <a:srgbClr val="0F5CA8"/>
                </a:solidFill>
                <a:latin typeface="Calibri"/>
              </a:rPr>
              <a:t>A real, live pipeline run: ~3 billed API calls, about $0.10, roughly 20 seconds.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727B"/>
                </a:solidFill>
                <a:latin typeface="Calibri"/>
              </a:rPr>
              <a:t>AmeriHealth Caritas · AI-in-Engineering · CodeGen (Data Engineer Agent) demo —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 i="0">
                <a:solidFill>
                  <a:srgbClr val="0B2E59"/>
                </a:solidFill>
                <a:latin typeface="Calibri"/>
              </a:rPr>
              <a:t>Cost shown before spending — </a:t>
            </a:r>
            <a:r>
              <a:rPr sz="1700" b="0" i="0">
                <a:solidFill>
                  <a:srgbClr val="3A3F47"/>
                </a:solidFill>
                <a:latin typeface="Calibri"/>
              </a:rPr>
              <a:t>the Run-live button states the price and asks for confirmation first.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0B2E59"/>
                </a:solidFill>
                <a:latin typeface="Calibri"/>
              </a:rPr>
              <a:t>Watch the stages — </a:t>
            </a:r>
            <a:r>
              <a:rPr sz="1700" b="0" i="0">
                <a:solidFill>
                  <a:srgbClr val="3A3F47"/>
                </a:solidFill>
                <a:latin typeface="Calibri"/>
              </a:rPr>
              <a:t>extract the STTM workbook → resolve contracts → compile rules → Layer-2 reasoning (the only billed step) → emit code → gate.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0B2E59"/>
                </a:solidFill>
                <a:latin typeface="Calibri"/>
              </a:rPr>
              <a:t>Results — </a:t>
            </a:r>
            <a:r>
              <a:rPr sz="1700" b="0" i="0">
                <a:solidFill>
                  <a:srgbClr val="3A3F47"/>
                </a:solidFill>
                <a:latin typeface="Calibri"/>
              </a:rPr>
              <a:t>three CV feeds, all PASS_WITH_FLAGS, with a LIVE badge on screen.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0B2E59"/>
                </a:solidFill>
                <a:latin typeface="Calibri"/>
              </a:rPr>
              <a:t>The finale — </a:t>
            </a:r>
            <a:r>
              <a:rPr sz="1700" b="0" i="0">
                <a:solidFill>
                  <a:srgbClr val="3A3F47"/>
                </a:solidFill>
                <a:latin typeface="Calibri"/>
              </a:rPr>
              <a:t>we open one AI candidate and click Approve in front of you — and the app itself says merging remains a manual engineering step.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0B2E59"/>
                </a:solidFill>
                <a:latin typeface="Calibri"/>
              </a:rPr>
              <a:t>If the network fails — </a:t>
            </a:r>
            <a:r>
              <a:rPr sz="1700" b="0" i="0">
                <a:solidFill>
                  <a:srgbClr val="3A3F47"/>
                </a:solidFill>
                <a:latin typeface="Calibri"/>
              </a:rPr>
              <a:t>a recorded run replays byte-for-byte, offline, with a REPLAY badge — same walk, zero API calls.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8064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B727B"/>
                </a:solidFill>
                <a:latin typeface="Calibri"/>
              </a:rPr>
              <a:t>Live AI output varies slightly run to run — the phrasing changes; the contracts it must cite and the gate it must pass do not.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5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2E59"/>
                </a:solidFill>
                <a:latin typeface="Calibri"/>
              </a:rPr>
              <a:t>Why this is good for AmeriHealth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91672" cy="566928"/>
          </a:xfrm>
          <a:prstGeom prst="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600" b="1" i="0">
                <a:solidFill>
                  <a:srgbClr val="0F5CA8"/>
                </a:solidFill>
                <a:latin typeface="Calibri"/>
              </a:rPr>
              <a:t>Faster feeds, consistent code, full auditability — with engineers still making every final call.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727B"/>
                </a:solidFill>
                <a:latin typeface="Calibri"/>
              </a:rPr>
              <a:t>AmeriHealth Caritas · AI-in-Engineering · CodeGen (Data Engineer Agent) demo — 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3520440" cy="1920240"/>
          </a:xfrm>
          <a:prstGeom prst="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/>
          <a:lstStyle/>
          <a:p>
            <a:pPr algn="ctr"/>
            <a:r>
              <a:rPr sz="1500" b="1" i="0">
                <a:solidFill>
                  <a:srgbClr val="0F5CA8"/>
                </a:solidFill>
                <a:latin typeface="Calibri"/>
              </a:rPr>
              <a:t>Speed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3A3F47"/>
                </a:solidFill>
                <a:latin typeface="Calibri"/>
              </a:rPr>
              <a:t>Pipeline scaffolding in seconds instead of engineer-weeks per feed — engineers spend their time on judgment, not boilerplate.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874519"/>
            <a:ext cx="3520440" cy="1920240"/>
          </a:xfrm>
          <a:prstGeom prst="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/>
          <a:lstStyle/>
          <a:p>
            <a:pPr algn="ctr"/>
            <a:r>
              <a:rPr sz="1500" b="1" i="0">
                <a:solidFill>
                  <a:srgbClr val="0F5CA8"/>
                </a:solidFill>
                <a:latin typeface="Calibri"/>
              </a:rPr>
              <a:t>Consistency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3A3F47"/>
                </a:solidFill>
                <a:latin typeface="Calibri"/>
              </a:rPr>
              <a:t>Every pipeline has the same reviewed shape. Output is byte-stable, so a diff shows real changes 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8160" y="1874519"/>
            <a:ext cx="3520440" cy="1920240"/>
          </a:xfrm>
          <a:prstGeom prst="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/>
          <a:lstStyle/>
          <a:p>
            <a:pPr algn="ctr"/>
            <a:r>
              <a:rPr sz="1500" b="1" i="0">
                <a:solidFill>
                  <a:srgbClr val="0F5CA8"/>
                </a:solidFill>
                <a:latin typeface="Calibri"/>
              </a:rPr>
              <a:t>Auditability &amp; compliance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3A3F47"/>
                </a:solidFill>
                <a:latin typeface="Calibri"/>
              </a:rPr>
              <a:t>Every file names the approved contract (with sha256) that produced it. PHI is masked to last-4 at every egress; no secrets ever enter the code — what a Medicaid managed-care organization needs.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23359"/>
            <a:ext cx="3520440" cy="1920240"/>
          </a:xfrm>
          <a:prstGeom prst="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/>
          <a:lstStyle/>
          <a:p>
            <a:pPr algn="ctr"/>
            <a:r>
              <a:rPr sz="1500" b="1" i="0">
                <a:solidFill>
                  <a:srgbClr val="0F5CA8"/>
                </a:solidFill>
                <a:latin typeface="Calibri"/>
              </a:rPr>
              <a:t>Tiny, fenced AI spend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3A3F47"/>
                </a:solidFill>
                <a:latin typeface="Calibri"/>
              </a:rPr>
              <a:t>About $0.10 of Claude per live run, confined to reviewing leftover rules. Anthropic is the program's sole model vendor.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4023359"/>
            <a:ext cx="3520440" cy="1920240"/>
          </a:xfrm>
          <a:prstGeom prst="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/>
          <a:lstStyle/>
          <a:p>
            <a:pPr algn="ctr"/>
            <a:r>
              <a:rPr sz="1500" b="1" i="0">
                <a:solidFill>
                  <a:srgbClr val="0F5CA8"/>
                </a:solidFill>
                <a:latin typeface="Calibri"/>
              </a:rPr>
              <a:t>Fits the existing stack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3A3F47"/>
                </a:solidFill>
                <a:latin typeface="Calibri"/>
              </a:rPr>
              <a:t>Plain PySpark + Delta Lake + Databricks Workflows today, structured for a mechanical DLT port later.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4023359"/>
            <a:ext cx="3520440" cy="1920240"/>
          </a:xfrm>
          <a:prstGeom prst="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/>
          <a:lstStyle/>
          <a:p>
            <a:pPr algn="ctr"/>
            <a:r>
              <a:rPr sz="1500" b="1" i="0">
                <a:solidFill>
                  <a:srgbClr val="0F5CA8"/>
                </a:solidFill>
                <a:latin typeface="Calibri"/>
              </a:rPr>
              <a:t>Safer reviews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3A3F47"/>
                </a:solidFill>
                <a:latin typeface="Calibri"/>
              </a:rPr>
              <a:t>Reviewers get a report tying every rule to code and every AI suggestion to verbatim contract text — less reverse-engineering, better catches.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5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2E59"/>
                </a:solidFill>
                <a:latin typeface="Calibri"/>
              </a:rPr>
              <a:t>Honest limits — and what's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91672" cy="566928"/>
          </a:xfrm>
          <a:prstGeom prst="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600" b="1" i="0">
                <a:solidFill>
                  <a:srgbClr val="0F5CA8"/>
                </a:solidFill>
                <a:latin typeface="Calibri"/>
              </a:rPr>
              <a:t>We'll tell you what isn't done yet before you ask.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727B"/>
                </a:solidFill>
                <a:latin typeface="Calibri"/>
              </a:rPr>
              <a:t>AmeriHealth Caritas · AI-in-Engineering · CodeGen (Data Engineer Agent) demo —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 i="0">
                <a:solidFill>
                  <a:srgbClr val="0B2E59"/>
                </a:solidFill>
                <a:latin typeface="Calibri"/>
              </a:rPr>
              <a:t>CAQH segmented workbooks (H/D/T) aren't extracted yet — </a:t>
            </a:r>
            <a:r>
              <a:rPr sz="1700" b="0" i="0">
                <a:solidFill>
                  <a:srgbClr val="3A3F47"/>
                </a:solidFill>
                <a:latin typeface="Calibri"/>
              </a:rPr>
              <a:t>awaiting the source data dictionary; today's CAQH feed runs on a clearly-labeled synthetic contract.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0B2E59"/>
                </a:solidFill>
                <a:latin typeface="Calibri"/>
              </a:rPr>
              <a:t>First run inside a real Databricks workspace is pending — </a:t>
            </a:r>
            <a:r>
              <a:rPr sz="1700" b="0" i="0">
                <a:solidFill>
                  <a:srgbClr val="3A3F47"/>
                </a:solidFill>
                <a:latin typeface="Calibri"/>
              </a:rPr>
              <a:t>today the pipeline runs on the demo machine; the Databricks Apps deployment is built but not yet exercised.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0B2E59"/>
                </a:solidFill>
                <a:latin typeface="Calibri"/>
              </a:rPr>
              <a:t>Approve → merge stays manual on purpose — </a:t>
            </a:r>
            <a:r>
              <a:rPr sz="1700" b="0" i="0">
                <a:solidFill>
                  <a:srgbClr val="3A3F47"/>
                </a:solidFill>
                <a:latin typeface="Calibri"/>
              </a:rPr>
              <a:t>wiring approved candidates into generated code is the planned v2, once trust is earned.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0B2E59"/>
                </a:solidFill>
                <a:latin typeface="Calibri"/>
              </a:rPr>
              <a:t>Notification rules have no recipients configured yet — </a:t>
            </a:r>
            <a:r>
              <a:rPr sz="1700" b="0" i="0">
                <a:solidFill>
                  <a:srgbClr val="3A3F47"/>
                </a:solidFill>
                <a:latin typeface="Calibri"/>
              </a:rPr>
              <a:t>they surface as flags until the distribution lists are confirmed.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B2E59"/>
                </a:solidFill>
                <a:latin typeface="Calibri"/>
              </a:rPr>
              <a:t>Next: </a:t>
            </a:r>
            <a:r>
              <a:rPr sz="1500" b="0" i="0">
                <a:solidFill>
                  <a:srgbClr val="3A3F47"/>
                </a:solidFill>
                <a:latin typeface="Calibri"/>
              </a:rPr>
              <a:t>real CAQH STTM → extractor segmented mode → workspace deployment → approval-merge v2.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Calibri"/>
              </a:rPr>
              <a:t>Three things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000" b="0" i="0">
                <a:solidFill>
                  <a:srgbClr val="E8F0F9"/>
                </a:solidFill>
                <a:latin typeface="Calibri"/>
              </a:rPr>
              <a:t>1 ·  Templates write the code — the same contracts always produce the same bytes, traceable by fingerprint.</a:t>
            </a:r>
          </a:p>
          <a:p>
            <a:pPr>
              <a:spcAft>
                <a:spcPts val="1800"/>
              </a:spcAft>
            </a:pPr>
            <a:r>
              <a:rPr sz="2000" b="0" i="0">
                <a:solidFill>
                  <a:srgbClr val="E8F0F9"/>
                </a:solidFill>
                <a:latin typeface="Calibri"/>
              </a:rPr>
              <a:t>2 ·  The AI only reviews the leftovers — and must quote the contract word-for-word to be heard.</a:t>
            </a:r>
          </a:p>
          <a:p>
            <a:pPr>
              <a:spcAft>
                <a:spcPts val="1800"/>
              </a:spcAft>
            </a:pPr>
            <a:r>
              <a:rPr sz="2000" b="0" i="0">
                <a:solidFill>
                  <a:srgbClr val="E8F0F9"/>
                </a:solidFill>
                <a:latin typeface="Calibri"/>
              </a:rPr>
              <a:t>3 ·  Engineers make every final call — approval is a decision on record, never an automatic merge.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0E7C7B"/>
                </a:solidFill>
                <a:latin typeface="Calibri"/>
              </a:rPr>
              <a:t>Questions welcome — now, the live demo.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